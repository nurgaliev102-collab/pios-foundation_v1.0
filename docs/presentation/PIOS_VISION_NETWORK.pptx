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286000"/>
            <a:ext cx="9601200" cy="2286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Segoe UI Light"/>
              </a:rPr>
              <a:t>Кто сегодня владеет
отношениями между человеком и его клиентом?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100" b="1" i="0">
                <a:solidFill>
                  <a:srgbClr val="8A93A8"/>
                </a:solidFill>
                <a:latin typeface="Segoe UI Semibold"/>
              </a:rPr>
              <a:t>PIOS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Segoe UI"/>
              </a:rP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1E9E86"/>
                </a:solidFill>
                <a:latin typeface="Segoe UI Semibold"/>
              </a:rPr>
              <a:t>ОТКУДА ВСЁ НАЧАЛОСЬ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141826"/>
                </a:solidFill>
                <a:latin typeface="Segoe UI Semibold"/>
              </a:rPr>
              <a:t>История, с которой всё началось</a:t>
            </a:r>
          </a:p>
        </p:txBody>
      </p:sp>
      <p:sp>
        <p:nvSpPr>
          <p:cNvPr id="4" name="Oval 3"/>
          <p:cNvSpPr/>
          <p:nvPr/>
        </p:nvSpPr>
        <p:spPr>
          <a:xfrm>
            <a:off x="5696712" y="1719072"/>
            <a:ext cx="768096" cy="768096"/>
          </a:xfrm>
          <a:prstGeom prst="ellipse">
            <a:avLst/>
          </a:prstGeom>
          <a:solidFill>
            <a:srgbClr val="14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74920" y="2651760"/>
            <a:ext cx="2011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00" b="1" i="0">
                <a:solidFill>
                  <a:srgbClr val="141826"/>
                </a:solidFill>
                <a:latin typeface="Segoe UI"/>
              </a:rPr>
              <a:t>Диспетчер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926080" y="2395728"/>
            <a:ext cx="3154680" cy="1517904"/>
          </a:xfrm>
          <a:prstGeom prst="line">
            <a:avLst/>
          </a:prstGeom>
          <a:ln w="1397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651760" y="3931920"/>
            <a:ext cx="548640" cy="548640"/>
          </a:xfrm>
          <a:prstGeom prst="ellipse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4206240" y="2395728"/>
            <a:ext cx="1874520" cy="1517904"/>
          </a:xfrm>
          <a:prstGeom prst="line">
            <a:avLst/>
          </a:prstGeom>
          <a:ln w="1397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931920" y="3931920"/>
            <a:ext cx="548640" cy="548640"/>
          </a:xfrm>
          <a:prstGeom prst="ellipse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5486400" y="2395728"/>
            <a:ext cx="594360" cy="1517904"/>
          </a:xfrm>
          <a:prstGeom prst="line">
            <a:avLst/>
          </a:prstGeom>
          <a:ln w="27940">
            <a:solidFill>
              <a:srgbClr val="1E9E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212080" y="3931920"/>
            <a:ext cx="548640" cy="548640"/>
          </a:xfrm>
          <a:prstGeom prst="ellipse">
            <a:avLst/>
          </a:prstGeom>
          <a:solidFill>
            <a:srgbClr val="1E9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6080760" y="2395728"/>
            <a:ext cx="685800" cy="1517904"/>
          </a:xfrm>
          <a:prstGeom prst="line">
            <a:avLst/>
          </a:prstGeom>
          <a:ln w="1397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492240" y="3931920"/>
            <a:ext cx="548640" cy="548640"/>
          </a:xfrm>
          <a:prstGeom prst="ellipse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6080760" y="2395728"/>
            <a:ext cx="1965960" cy="1517904"/>
          </a:xfrm>
          <a:prstGeom prst="line">
            <a:avLst/>
          </a:prstGeom>
          <a:ln w="1397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772400" y="3931920"/>
            <a:ext cx="548640" cy="548640"/>
          </a:xfrm>
          <a:prstGeom prst="ellipse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6080760" y="2395728"/>
            <a:ext cx="3246120" cy="1517904"/>
          </a:xfrm>
          <a:prstGeom prst="line">
            <a:avLst/>
          </a:prstGeom>
          <a:ln w="1397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052560" y="3931920"/>
            <a:ext cx="548640" cy="548640"/>
          </a:xfrm>
          <a:prstGeom prst="ellipse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40" y="4709160"/>
            <a:ext cx="7498079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200" b="0" i="0">
                <a:solidFill>
                  <a:srgbClr val="5B647A"/>
                </a:solidFill>
                <a:latin typeface="Segoe UI"/>
              </a:rPr>
              <a:t>Водители на линии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23560"/>
            <a:ext cx="1042416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500" b="0" i="0">
                <a:solidFill>
                  <a:srgbClr val="5B647A"/>
                </a:solidFill>
                <a:latin typeface="Segoe UI"/>
              </a:rPr>
              <a:t>Диспетчером была жена владельца. Когда владелец сам выходил на линию —
лучшие заказы чаще доставались ему и тем, у кого были с ней хорошие отношения.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000" b="0" i="0">
                <a:solidFill>
                  <a:srgbClr val="5B647A"/>
                </a:solidFill>
                <a:latin typeface="Segoe UI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1E9E86"/>
                </a:solidFill>
                <a:latin typeface="Segoe UI Semibold"/>
              </a:rPr>
              <a:t>НЕ ИСТОРИЯ — СИСТЕМА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141826"/>
                </a:solidFill>
                <a:latin typeface="Segoe UI Semibold"/>
              </a:rPr>
              <a:t>Дело не в людях. Дело в правилах.</a:t>
            </a:r>
          </a:p>
        </p:txBody>
      </p:sp>
      <p:sp>
        <p:nvSpPr>
          <p:cNvPr id="4" name="Oval 3"/>
          <p:cNvSpPr/>
          <p:nvPr/>
        </p:nvSpPr>
        <p:spPr>
          <a:xfrm>
            <a:off x="5669280" y="2514600"/>
            <a:ext cx="822960" cy="822960"/>
          </a:xfrm>
          <a:prstGeom prst="ellipse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?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2926080" y="3246120"/>
            <a:ext cx="3154680" cy="1069848"/>
          </a:xfrm>
          <a:prstGeom prst="line">
            <a:avLst/>
          </a:prstGeom>
          <a:ln w="13970">
            <a:solidFill>
              <a:srgbClr val="D3D8E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688336" y="4334256"/>
            <a:ext cx="475488" cy="475488"/>
          </a:xfrm>
          <a:prstGeom prst="ellipse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206240" y="3246120"/>
            <a:ext cx="1874520" cy="1069848"/>
          </a:xfrm>
          <a:prstGeom prst="line">
            <a:avLst/>
          </a:prstGeom>
          <a:ln w="13970">
            <a:solidFill>
              <a:srgbClr val="D3D8E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968496" y="4334256"/>
            <a:ext cx="475488" cy="475488"/>
          </a:xfrm>
          <a:prstGeom prst="ellipse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5486400" y="3246120"/>
            <a:ext cx="594360" cy="1069848"/>
          </a:xfrm>
          <a:prstGeom prst="line">
            <a:avLst/>
          </a:prstGeom>
          <a:ln w="13970">
            <a:solidFill>
              <a:srgbClr val="D3D8E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248656" y="4334256"/>
            <a:ext cx="475488" cy="475488"/>
          </a:xfrm>
          <a:prstGeom prst="ellipse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6080760" y="3246120"/>
            <a:ext cx="594360" cy="1069848"/>
          </a:xfrm>
          <a:prstGeom prst="line">
            <a:avLst/>
          </a:prstGeom>
          <a:ln w="13970">
            <a:solidFill>
              <a:srgbClr val="D3D8E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437376" y="4334256"/>
            <a:ext cx="475488" cy="475488"/>
          </a:xfrm>
          <a:prstGeom prst="ellipse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6080760" y="3246120"/>
            <a:ext cx="1783080" cy="1069848"/>
          </a:xfrm>
          <a:prstGeom prst="line">
            <a:avLst/>
          </a:prstGeom>
          <a:ln w="13970">
            <a:solidFill>
              <a:srgbClr val="D3D8E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7626096" y="4334256"/>
            <a:ext cx="475488" cy="475488"/>
          </a:xfrm>
          <a:prstGeom prst="ellipse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6080760" y="3246120"/>
            <a:ext cx="3063240" cy="1069848"/>
          </a:xfrm>
          <a:prstGeom prst="line">
            <a:avLst/>
          </a:prstGeom>
          <a:ln w="13970">
            <a:solidFill>
              <a:srgbClr val="D3D8E2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906256" y="4334256"/>
            <a:ext cx="475488" cy="475488"/>
          </a:xfrm>
          <a:prstGeom prst="ellipse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349240"/>
            <a:ext cx="941832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600" b="0" i="0">
                <a:solidFill>
                  <a:srgbClr val="5B647A"/>
                </a:solidFill>
                <a:latin typeface="Segoe UI"/>
              </a:rPr>
              <a:t>Когда правила распределения зависят от одного человека — надёжности
не за что зацепиться. Это структурная проблема, а не вопрос конкретных людей.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000" b="0" i="0">
                <a:solidFill>
                  <a:srgbClr val="5B647A"/>
                </a:solidFill>
                <a:latin typeface="Segoe UI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1E9E86"/>
                </a:solidFill>
                <a:latin typeface="Segoe UI Semibold"/>
              </a:rPr>
              <a:t>ШИРЕ, ЧЕМ ТАКСИ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141826"/>
                </a:solidFill>
                <a:latin typeface="Segoe UI Semibold"/>
              </a:rPr>
              <a:t>Эта проблема — не только в такси</a:t>
            </a:r>
          </a:p>
        </p:txBody>
      </p:sp>
      <p:sp>
        <p:nvSpPr>
          <p:cNvPr id="4" name="Oval 3"/>
          <p:cNvSpPr/>
          <p:nvPr/>
        </p:nvSpPr>
        <p:spPr>
          <a:xfrm>
            <a:off x="1874520" y="2788920"/>
            <a:ext cx="1005840" cy="1005840"/>
          </a:xfrm>
          <a:prstGeom prst="ellipse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959352"/>
            <a:ext cx="2011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300" b="1" i="0">
                <a:solidFill>
                  <a:srgbClr val="141826"/>
                </a:solidFill>
                <a:latin typeface="Segoe UI"/>
              </a:rPr>
              <a:t>Такси</a:t>
            </a:r>
          </a:p>
        </p:txBody>
      </p:sp>
      <p:sp>
        <p:nvSpPr>
          <p:cNvPr id="6" name="Oval 5"/>
          <p:cNvSpPr/>
          <p:nvPr/>
        </p:nvSpPr>
        <p:spPr>
          <a:xfrm>
            <a:off x="4389120" y="2788920"/>
            <a:ext cx="1005840" cy="1005840"/>
          </a:xfrm>
          <a:prstGeom prst="ellipse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86200" y="3959352"/>
            <a:ext cx="2011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300" b="1" i="0">
                <a:solidFill>
                  <a:srgbClr val="141826"/>
                </a:solidFill>
                <a:latin typeface="Segoe UI"/>
              </a:rPr>
              <a:t>Красота</a:t>
            </a:r>
          </a:p>
        </p:txBody>
      </p:sp>
      <p:sp>
        <p:nvSpPr>
          <p:cNvPr id="8" name="Oval 7"/>
          <p:cNvSpPr/>
          <p:nvPr/>
        </p:nvSpPr>
        <p:spPr>
          <a:xfrm>
            <a:off x="6903720" y="2788920"/>
            <a:ext cx="1005840" cy="1005840"/>
          </a:xfrm>
          <a:prstGeom prst="ellipse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959352"/>
            <a:ext cx="2011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300" b="1" i="0">
                <a:solidFill>
                  <a:srgbClr val="141826"/>
                </a:solidFill>
                <a:latin typeface="Segoe UI"/>
              </a:rPr>
              <a:t>Услуги</a:t>
            </a:r>
          </a:p>
        </p:txBody>
      </p:sp>
      <p:sp>
        <p:nvSpPr>
          <p:cNvPr id="10" name="Oval 9"/>
          <p:cNvSpPr/>
          <p:nvPr/>
        </p:nvSpPr>
        <p:spPr>
          <a:xfrm>
            <a:off x="9418320" y="2788920"/>
            <a:ext cx="1005840" cy="1005840"/>
          </a:xfrm>
          <a:prstGeom prst="ellipse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3959352"/>
            <a:ext cx="2011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300" b="1" i="0">
                <a:solidFill>
                  <a:srgbClr val="141826"/>
                </a:solidFill>
                <a:latin typeface="Segoe UI"/>
              </a:rPr>
              <a:t>Малый бизнес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029200"/>
            <a:ext cx="941832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600" b="0" i="0">
                <a:solidFill>
                  <a:srgbClr val="5B647A"/>
                </a:solidFill>
                <a:latin typeface="Segoe UI"/>
              </a:rPr>
              <a:t>У каждого — свои клиенты. Но связи между ними никто не видит и не поддерживает.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000" b="0" i="0">
                <a:solidFill>
                  <a:srgbClr val="5B647A"/>
                </a:solidFill>
                <a:latin typeface="Segoe UI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1E9E86"/>
                </a:solidFill>
                <a:latin typeface="Segoe UI Semibold"/>
              </a:rPr>
              <a:t>СТАРАЯ МОДЕЛЬ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800" b="1" i="0">
                <a:solidFill>
                  <a:srgbClr val="141826"/>
                </a:solidFill>
                <a:latin typeface="Segoe UI Semibold"/>
              </a:rPr>
              <a:t>Человек работает внутри чужой системы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2377440"/>
            <a:ext cx="3200400" cy="2743200"/>
          </a:xfrm>
          <a:prstGeom prst="roundRect">
            <a:avLst>
              <a:gd name="adj" fmla="val 8000"/>
            </a:avLst>
          </a:prstGeom>
          <a:solidFill>
            <a:srgbClr val="EAECF1"/>
          </a:solidFill>
          <a:ln>
            <a:solidFill>
              <a:srgbClr val="D3D8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15000" y="3383279"/>
            <a:ext cx="731520" cy="731520"/>
          </a:xfrm>
          <a:prstGeom prst="ellipse">
            <a:avLst/>
          </a:prstGeom>
          <a:solidFill>
            <a:srgbClr val="14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74920" y="4279391"/>
            <a:ext cx="2011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00" b="1" i="0">
                <a:solidFill>
                  <a:srgbClr val="141826"/>
                </a:solidFill>
                <a:latin typeface="Segoe UI"/>
              </a:rPr>
              <a:t>Человек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514600"/>
            <a:ext cx="32004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200" b="1" i="0">
                <a:solidFill>
                  <a:srgbClr val="5B647A"/>
                </a:solidFill>
                <a:latin typeface="Segoe UI"/>
              </a:rPr>
              <a:t>ЧУЖАЯ СИСТЕМА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532120"/>
            <a:ext cx="941832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600" b="0" i="0">
                <a:solidFill>
                  <a:srgbClr val="5B647A"/>
                </a:solidFill>
                <a:latin typeface="Segoe UI"/>
              </a:rPr>
              <a:t>Правила распределения и доступ к клиентам определяет платформа, не он.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000" b="0" i="0">
                <a:solidFill>
                  <a:srgbClr val="5B647A"/>
                </a:solidFill>
                <a:latin typeface="Segoe UI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1E9E86"/>
                </a:solidFill>
                <a:latin typeface="Segoe UI Semibold"/>
              </a:rPr>
              <a:t>НОВАЯ МОДЕЛЬ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800" b="1" i="0">
                <a:solidFill>
                  <a:srgbClr val="141826"/>
                </a:solidFill>
                <a:latin typeface="Segoe UI Semibold"/>
              </a:rPr>
              <a:t>Человек строит свою сеть</a:t>
            </a:r>
          </a:p>
        </p:txBody>
      </p:sp>
      <p:cxnSp>
        <p:nvCxnSpPr>
          <p:cNvPr id="4" name="Connector 3"/>
          <p:cNvCxnSpPr/>
          <p:nvPr/>
        </p:nvCxnSpPr>
        <p:spPr>
          <a:xfrm flipH="1" flipV="1">
            <a:off x="3840480" y="2377440"/>
            <a:ext cx="2240280" cy="1188720"/>
          </a:xfrm>
          <a:prstGeom prst="line">
            <a:avLst/>
          </a:prstGeom>
          <a:ln w="20320">
            <a:solidFill>
              <a:srgbClr val="1E9E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6080760" y="2377440"/>
            <a:ext cx="2240280" cy="1188720"/>
          </a:xfrm>
          <a:prstGeom prst="line">
            <a:avLst/>
          </a:prstGeom>
          <a:ln w="20320">
            <a:solidFill>
              <a:srgbClr val="1E9E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3840480" y="3566160"/>
            <a:ext cx="2240280" cy="1188720"/>
          </a:xfrm>
          <a:prstGeom prst="line">
            <a:avLst/>
          </a:prstGeom>
          <a:ln w="20320">
            <a:solidFill>
              <a:srgbClr val="1E9E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0760" y="3566160"/>
            <a:ext cx="2240280" cy="1188720"/>
          </a:xfrm>
          <a:prstGeom prst="line">
            <a:avLst/>
          </a:prstGeom>
          <a:ln w="20320">
            <a:solidFill>
              <a:srgbClr val="1E9E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80760" y="3566160"/>
            <a:ext cx="0" cy="1645920"/>
          </a:xfrm>
          <a:prstGeom prst="line">
            <a:avLst/>
          </a:prstGeom>
          <a:ln w="20320">
            <a:solidFill>
              <a:srgbClr val="1E9E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584448" y="2121408"/>
            <a:ext cx="512064" cy="512064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65008" y="2121408"/>
            <a:ext cx="512064" cy="512064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84448" y="4498848"/>
            <a:ext cx="512064" cy="512064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65008" y="4498848"/>
            <a:ext cx="512064" cy="512064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24728" y="4956048"/>
            <a:ext cx="512064" cy="512064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96712" y="3182112"/>
            <a:ext cx="768096" cy="768096"/>
          </a:xfrm>
          <a:prstGeom prst="ellipse">
            <a:avLst/>
          </a:prstGeom>
          <a:solidFill>
            <a:srgbClr val="14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4114800"/>
            <a:ext cx="2011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00" b="1" i="0">
                <a:solidFill>
                  <a:srgbClr val="141826"/>
                </a:solidFill>
                <a:latin typeface="Segoe UI"/>
              </a:rPr>
              <a:t>Человек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806440"/>
            <a:ext cx="94183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600" b="0" i="0">
                <a:solidFill>
                  <a:srgbClr val="5B647A"/>
                </a:solidFill>
                <a:latin typeface="Segoe UI"/>
              </a:rPr>
              <a:t>Он выбирает связи сам — и остаётся их хозяином.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000" b="0" i="0">
                <a:solidFill>
                  <a:srgbClr val="5B647A"/>
                </a:solidFill>
                <a:latin typeface="Segoe UI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31720"/>
            <a:ext cx="1033272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  <a:latin typeface="Segoe UI Semibold"/>
              </a:rPr>
              <a:t>PIOS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65960" y="3977639"/>
            <a:ext cx="822960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900" b="0" i="0">
                <a:solidFill>
                  <a:srgbClr val="2BD6B2"/>
                </a:solidFill>
                <a:latin typeface="Segoe UI"/>
              </a:rPr>
              <a:t>Цифровая инфраструктура для собственного бизнеса
и собственных связей.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Segoe UI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1E9E86"/>
                </a:solidFill>
                <a:latin typeface="Segoe UI Semibold"/>
              </a:rPr>
              <a:t>НАЧАЛО 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700" b="1" i="0">
                <a:solidFill>
                  <a:srgbClr val="141826"/>
                </a:solidFill>
                <a:latin typeface="Segoe UI Semibold"/>
              </a:rPr>
              <a:t>У человека появляются устойчивые связи</a:t>
            </a:r>
          </a:p>
        </p:txBody>
      </p:sp>
      <p:cxnSp>
        <p:nvCxnSpPr>
          <p:cNvPr id="4" name="Connector 3"/>
          <p:cNvCxnSpPr/>
          <p:nvPr/>
        </p:nvCxnSpPr>
        <p:spPr>
          <a:xfrm flipH="1" flipV="1">
            <a:off x="3749039" y="2514600"/>
            <a:ext cx="2331721" cy="1143000"/>
          </a:xfrm>
          <a:prstGeom prst="line">
            <a:avLst/>
          </a:prstGeom>
          <a:ln w="1778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6080760" y="2514600"/>
            <a:ext cx="2331720" cy="1143000"/>
          </a:xfrm>
          <a:prstGeom prst="line">
            <a:avLst/>
          </a:prstGeom>
          <a:ln w="1778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3749039" y="3657600"/>
            <a:ext cx="2331721" cy="1143000"/>
          </a:xfrm>
          <a:prstGeom prst="line">
            <a:avLst/>
          </a:prstGeom>
          <a:ln w="1778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0760" y="3657600"/>
            <a:ext cx="2331720" cy="1143000"/>
          </a:xfrm>
          <a:prstGeom prst="line">
            <a:avLst/>
          </a:prstGeom>
          <a:ln w="1778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438143" y="2203704"/>
            <a:ext cx="621792" cy="621792"/>
          </a:xfrm>
          <a:prstGeom prst="ellipse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199" y="2990088"/>
            <a:ext cx="2011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00" b="1" i="0">
                <a:solidFill>
                  <a:srgbClr val="141826"/>
                </a:solidFill>
                <a:latin typeface="Segoe UI"/>
              </a:rPr>
              <a:t>Клиенты</a:t>
            </a:r>
          </a:p>
        </p:txBody>
      </p:sp>
      <p:sp>
        <p:nvSpPr>
          <p:cNvPr id="10" name="Oval 9"/>
          <p:cNvSpPr/>
          <p:nvPr/>
        </p:nvSpPr>
        <p:spPr>
          <a:xfrm>
            <a:off x="8101584" y="2203704"/>
            <a:ext cx="621792" cy="621792"/>
          </a:xfrm>
          <a:prstGeom prst="ellipse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2990088"/>
            <a:ext cx="2011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00" b="1" i="0">
                <a:solidFill>
                  <a:srgbClr val="141826"/>
                </a:solidFill>
                <a:latin typeface="Segoe UI"/>
              </a:rPr>
              <a:t>Партнёры</a:t>
            </a:r>
          </a:p>
        </p:txBody>
      </p:sp>
      <p:sp>
        <p:nvSpPr>
          <p:cNvPr id="12" name="Oval 11"/>
          <p:cNvSpPr/>
          <p:nvPr/>
        </p:nvSpPr>
        <p:spPr>
          <a:xfrm>
            <a:off x="3438143" y="4489704"/>
            <a:ext cx="621792" cy="621792"/>
          </a:xfrm>
          <a:prstGeom prst="ellipse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199" y="5276088"/>
            <a:ext cx="2011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00" b="1" i="0">
                <a:solidFill>
                  <a:srgbClr val="141826"/>
                </a:solidFill>
                <a:latin typeface="Segoe UI"/>
              </a:rPr>
              <a:t>Друзья</a:t>
            </a:r>
          </a:p>
        </p:txBody>
      </p:sp>
      <p:sp>
        <p:nvSpPr>
          <p:cNvPr id="14" name="Oval 13"/>
          <p:cNvSpPr/>
          <p:nvPr/>
        </p:nvSpPr>
        <p:spPr>
          <a:xfrm>
            <a:off x="8101584" y="4489704"/>
            <a:ext cx="621792" cy="621792"/>
          </a:xfrm>
          <a:prstGeom prst="ellipse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5276088"/>
            <a:ext cx="2011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00" b="1" i="0">
                <a:solidFill>
                  <a:srgbClr val="141826"/>
                </a:solidFill>
                <a:latin typeface="Segoe UI"/>
              </a:rPr>
              <a:t>Специалисты</a:t>
            </a:r>
          </a:p>
        </p:txBody>
      </p:sp>
      <p:sp>
        <p:nvSpPr>
          <p:cNvPr id="16" name="Oval 15"/>
          <p:cNvSpPr/>
          <p:nvPr/>
        </p:nvSpPr>
        <p:spPr>
          <a:xfrm>
            <a:off x="5696712" y="3273552"/>
            <a:ext cx="768096" cy="768096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2788920"/>
            <a:ext cx="201168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00" b="1" i="0">
                <a:solidFill>
                  <a:srgbClr val="141826"/>
                </a:solidFill>
                <a:latin typeface="Segoe UI"/>
              </a:rPr>
              <a:t>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000" b="0" i="0">
                <a:solidFill>
                  <a:srgbClr val="5B647A"/>
                </a:solidFill>
                <a:latin typeface="Segoe UI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1E9E86"/>
                </a:solidFill>
                <a:latin typeface="Segoe UI Semibold"/>
              </a:rPr>
              <a:t>КЛЮЧЕВОЙ ПРИМЕР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3000" b="1" i="0">
                <a:solidFill>
                  <a:srgbClr val="141826"/>
                </a:solidFill>
                <a:latin typeface="Segoe UI Semibold"/>
              </a:rPr>
              <a:t>Таксист и парикмахер</a:t>
            </a:r>
          </a:p>
        </p:txBody>
      </p:sp>
      <p:sp>
        <p:nvSpPr>
          <p:cNvPr id="4" name="Oval 3"/>
          <p:cNvSpPr/>
          <p:nvPr/>
        </p:nvSpPr>
        <p:spPr>
          <a:xfrm>
            <a:off x="3429000" y="2743200"/>
            <a:ext cx="1005840" cy="1005840"/>
          </a:xfrm>
          <a:prstGeom prst="ellipse">
            <a:avLst/>
          </a:prstGeom>
          <a:solidFill>
            <a:srgbClr val="14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3913632"/>
            <a:ext cx="2011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00" b="1" i="0">
                <a:solidFill>
                  <a:srgbClr val="141826"/>
                </a:solidFill>
                <a:latin typeface="Segoe UI"/>
              </a:rPr>
              <a:t>Водитель</a:t>
            </a:r>
          </a:p>
        </p:txBody>
      </p:sp>
      <p:sp>
        <p:nvSpPr>
          <p:cNvPr id="6" name="Oval 5"/>
          <p:cNvSpPr/>
          <p:nvPr/>
        </p:nvSpPr>
        <p:spPr>
          <a:xfrm>
            <a:off x="7726680" y="2743200"/>
            <a:ext cx="1005840" cy="1005840"/>
          </a:xfrm>
          <a:prstGeom prst="ellipse">
            <a:avLst/>
          </a:prstGeom>
          <a:solidFill>
            <a:srgbClr val="14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3913632"/>
            <a:ext cx="2011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00" b="1" i="0">
                <a:solidFill>
                  <a:srgbClr val="141826"/>
                </a:solidFill>
                <a:latin typeface="Segoe UI"/>
              </a:rPr>
              <a:t>Парикмахер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434840" y="3246120"/>
            <a:ext cx="3291839" cy="0"/>
          </a:xfrm>
          <a:prstGeom prst="line">
            <a:avLst/>
          </a:prstGeom>
          <a:ln w="31750">
            <a:solidFill>
              <a:srgbClr val="1E9E8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846320" y="2880360"/>
            <a:ext cx="25146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200" b="0" i="1">
                <a:solidFill>
                  <a:srgbClr val="1E9E86"/>
                </a:solidFill>
                <a:latin typeface="Segoe UI"/>
              </a:rPr>
              <a:t>доверие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709160"/>
            <a:ext cx="886968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2000" b="1" i="0">
                <a:solidFill>
                  <a:srgbClr val="141826"/>
                </a:solidFill>
                <a:latin typeface="Segoe UI"/>
              </a:rPr>
              <a:t>Оба остаются собой. Но не остаются в одиночестве.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440680"/>
            <a:ext cx="7955279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5B647A"/>
                </a:solidFill>
                <a:latin typeface="Segoe UI"/>
              </a:rPr>
              <a:t>Не обязаны рекламировать друг друга клиентам.
Просто пользуются услугами друг друга — сами становятся клиентами.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000" b="0" i="0">
                <a:solidFill>
                  <a:srgbClr val="5B647A"/>
                </a:solidFill>
                <a:latin typeface="Segoe UI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1E9E86"/>
                </a:solidFill>
                <a:latin typeface="Segoe UI Semibold"/>
              </a:rPr>
              <a:t>КАК РОЖДАЕТСЯ МАСШТАБ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600" b="1" i="0">
                <a:solidFill>
                  <a:srgbClr val="141826"/>
                </a:solidFill>
                <a:latin typeface="Segoe UI Semibold"/>
              </a:rPr>
              <a:t>Человек → сеть → город → сеть городов</a:t>
            </a:r>
          </a:p>
        </p:txBody>
      </p:sp>
      <p:sp>
        <p:nvSpPr>
          <p:cNvPr id="4" name="Oval 3"/>
          <p:cNvSpPr/>
          <p:nvPr/>
        </p:nvSpPr>
        <p:spPr>
          <a:xfrm>
            <a:off x="1536192" y="3547871"/>
            <a:ext cx="402336" cy="402336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72000" y="3749039"/>
            <a:ext cx="502920" cy="0"/>
          </a:xfrm>
          <a:prstGeom prst="line">
            <a:avLst/>
          </a:prstGeom>
          <a:ln w="1270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0" y="3749039"/>
            <a:ext cx="155410" cy="296549"/>
          </a:xfrm>
          <a:prstGeom prst="line">
            <a:avLst/>
          </a:prstGeom>
          <a:ln w="1270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4165129" y="3749039"/>
            <a:ext cx="406871" cy="183277"/>
          </a:xfrm>
          <a:prstGeom prst="line">
            <a:avLst/>
          </a:prstGeom>
          <a:ln w="1270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4165129" y="3565762"/>
            <a:ext cx="406871" cy="183277"/>
          </a:xfrm>
          <a:prstGeom prst="line">
            <a:avLst/>
          </a:prstGeom>
          <a:ln w="1270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572000" y="3452490"/>
            <a:ext cx="155410" cy="296549"/>
          </a:xfrm>
          <a:prstGeom prst="line">
            <a:avLst/>
          </a:prstGeom>
          <a:ln w="1270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462272" y="3639311"/>
            <a:ext cx="219456" cy="219456"/>
          </a:xfrm>
          <a:prstGeom prst="ellipse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946904" y="3621023"/>
            <a:ext cx="256032" cy="256032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99394" y="3917572"/>
            <a:ext cx="256032" cy="256032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37113" y="3804300"/>
            <a:ext cx="256032" cy="256032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37113" y="3437746"/>
            <a:ext cx="256032" cy="256032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99394" y="3324474"/>
            <a:ext cx="256032" cy="256032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7589520" y="3749039"/>
            <a:ext cx="566928" cy="0"/>
          </a:xfrm>
          <a:prstGeom prst="line">
            <a:avLst/>
          </a:prstGeom>
          <a:ln w="1270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89520" y="3749039"/>
            <a:ext cx="400878" cy="248544"/>
          </a:xfrm>
          <a:prstGeom prst="line">
            <a:avLst/>
          </a:prstGeom>
          <a:ln w="1270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89520" y="3749039"/>
            <a:ext cx="0" cy="351495"/>
          </a:xfrm>
          <a:prstGeom prst="line">
            <a:avLst/>
          </a:prstGeom>
          <a:ln w="1270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188641" y="3749039"/>
            <a:ext cx="400879" cy="248544"/>
          </a:xfrm>
          <a:prstGeom prst="line">
            <a:avLst/>
          </a:prstGeom>
          <a:ln w="1270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7022592" y="3749039"/>
            <a:ext cx="566928" cy="0"/>
          </a:xfrm>
          <a:prstGeom prst="line">
            <a:avLst/>
          </a:prstGeom>
          <a:ln w="1270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7188641" y="3500495"/>
            <a:ext cx="400879" cy="248544"/>
          </a:xfrm>
          <a:prstGeom prst="line">
            <a:avLst/>
          </a:prstGeom>
          <a:ln w="1270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589520" y="3397544"/>
            <a:ext cx="0" cy="351495"/>
          </a:xfrm>
          <a:prstGeom prst="line">
            <a:avLst/>
          </a:prstGeom>
          <a:ln w="1270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589520" y="3500495"/>
            <a:ext cx="400878" cy="248544"/>
          </a:xfrm>
          <a:prstGeom prst="line">
            <a:avLst/>
          </a:prstGeom>
          <a:ln w="1270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479792" y="3639311"/>
            <a:ext cx="219456" cy="219456"/>
          </a:xfrm>
          <a:prstGeom prst="ellipse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55864" y="3648455"/>
            <a:ext cx="201168" cy="201168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889814" y="3896999"/>
            <a:ext cx="201168" cy="201168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88936" y="3999950"/>
            <a:ext cx="201168" cy="201168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088057" y="3896999"/>
            <a:ext cx="201168" cy="201168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22008" y="3648455"/>
            <a:ext cx="201168" cy="201168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88057" y="3399911"/>
            <a:ext cx="201168" cy="201168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488936" y="3296960"/>
            <a:ext cx="201168" cy="201168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889814" y="3399911"/>
            <a:ext cx="201168" cy="201168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0332720" y="3749039"/>
            <a:ext cx="603504" cy="0"/>
          </a:xfrm>
          <a:prstGeom prst="line">
            <a:avLst/>
          </a:prstGeom>
          <a:ln w="1270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332720" y="3749039"/>
            <a:ext cx="462310" cy="240513"/>
          </a:xfrm>
          <a:prstGeom prst="line">
            <a:avLst/>
          </a:prstGeom>
          <a:ln w="1270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332720" y="3749039"/>
            <a:ext cx="104797" cy="368487"/>
          </a:xfrm>
          <a:prstGeom prst="line">
            <a:avLst/>
          </a:prstGeom>
          <a:ln w="1270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0030968" y="3749039"/>
            <a:ext cx="301752" cy="324042"/>
          </a:xfrm>
          <a:prstGeom prst="line">
            <a:avLst/>
          </a:prstGeom>
          <a:ln w="1270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9765611" y="3749039"/>
            <a:ext cx="567109" cy="127974"/>
          </a:xfrm>
          <a:prstGeom prst="line">
            <a:avLst/>
          </a:prstGeom>
          <a:ln w="1270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9765611" y="3621065"/>
            <a:ext cx="567109" cy="127974"/>
          </a:xfrm>
          <a:prstGeom prst="line">
            <a:avLst/>
          </a:prstGeom>
          <a:ln w="1270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10030968" y="3424997"/>
            <a:ext cx="301752" cy="324042"/>
          </a:xfrm>
          <a:prstGeom prst="line">
            <a:avLst/>
          </a:prstGeom>
          <a:ln w="1270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332720" y="3380552"/>
            <a:ext cx="104797" cy="368487"/>
          </a:xfrm>
          <a:prstGeom prst="line">
            <a:avLst/>
          </a:prstGeom>
          <a:ln w="1270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332720" y="3508526"/>
            <a:ext cx="462310" cy="240513"/>
          </a:xfrm>
          <a:prstGeom prst="line">
            <a:avLst/>
          </a:prstGeom>
          <a:ln w="12700">
            <a:solidFill>
              <a:srgbClr val="D3D8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10222992" y="3639311"/>
            <a:ext cx="219456" cy="219456"/>
          </a:xfrm>
          <a:prstGeom prst="ellipse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853928" y="3666743"/>
            <a:ext cx="164592" cy="164592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712734" y="3907256"/>
            <a:ext cx="164592" cy="164592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355221" y="4035230"/>
            <a:ext cx="164592" cy="164592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948672" y="3990785"/>
            <a:ext cx="164592" cy="164592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683315" y="3794717"/>
            <a:ext cx="164592" cy="164592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683315" y="3538769"/>
            <a:ext cx="164592" cy="164592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48672" y="3342701"/>
            <a:ext cx="164592" cy="164592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55221" y="3298256"/>
            <a:ext cx="164592" cy="164592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712734" y="3426230"/>
            <a:ext cx="164592" cy="164592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2423160" y="3749039"/>
            <a:ext cx="1463040" cy="0"/>
          </a:xfrm>
          <a:prstGeom prst="line">
            <a:avLst/>
          </a:prstGeom>
          <a:ln w="22225">
            <a:solidFill>
              <a:srgbClr val="1E9E8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257800" y="3749039"/>
            <a:ext cx="1645920" cy="0"/>
          </a:xfrm>
          <a:prstGeom prst="line">
            <a:avLst/>
          </a:prstGeom>
          <a:ln w="22225">
            <a:solidFill>
              <a:srgbClr val="1E9E8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275320" y="3749039"/>
            <a:ext cx="1371600" cy="0"/>
          </a:xfrm>
          <a:prstGeom prst="line">
            <a:avLst/>
          </a:prstGeom>
          <a:ln w="22225">
            <a:solidFill>
              <a:srgbClr val="1E9E8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31519" y="5074920"/>
            <a:ext cx="2011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300" b="1" i="0">
                <a:solidFill>
                  <a:srgbClr val="141826"/>
                </a:solidFill>
                <a:latin typeface="Segoe UI"/>
              </a:rPr>
              <a:t>Человек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66160" y="5074920"/>
            <a:ext cx="2011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300" b="1" i="0">
                <a:solidFill>
                  <a:srgbClr val="141826"/>
                </a:solidFill>
                <a:latin typeface="Segoe UI"/>
              </a:rPr>
              <a:t>Локальная сеть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5074920"/>
            <a:ext cx="2011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300" b="1" i="0">
                <a:solidFill>
                  <a:srgbClr val="141826"/>
                </a:solidFill>
                <a:latin typeface="Segoe UI"/>
              </a:rPr>
              <a:t>Город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0" y="5074920"/>
            <a:ext cx="2011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300" b="1" i="0">
                <a:solidFill>
                  <a:srgbClr val="141826"/>
                </a:solidFill>
                <a:latin typeface="Segoe UI"/>
              </a:rPr>
              <a:t>Сеть городов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71600" y="5806440"/>
            <a:ext cx="94183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400" b="0" i="1">
                <a:solidFill>
                  <a:srgbClr val="5B647A"/>
                </a:solidFill>
                <a:latin typeface="Segoe UI"/>
              </a:rPr>
              <a:t>Масштаб растёт не потому, что одна компания забирает клиентов себе.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000" b="0" i="0">
                <a:solidFill>
                  <a:srgbClr val="5B647A"/>
                </a:solidFill>
                <a:latin typeface="Segoe U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1E9E86"/>
                </a:solidFill>
                <a:latin typeface="Segoe UI Semibold"/>
              </a:rPr>
              <a:t>ПЕРВЫЙ РЫНОК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800" b="1" i="0">
                <a:solidFill>
                  <a:srgbClr val="141826"/>
                </a:solidFill>
                <a:latin typeface="Segoe UI Semibold"/>
              </a:rPr>
              <a:t>Почему начинаем именно с такси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3040" y="2468880"/>
            <a:ext cx="128016" cy="502920"/>
          </a:xfrm>
          <a:prstGeom prst="rect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83080" y="2468880"/>
            <a:ext cx="82296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800" b="1" i="0">
                <a:solidFill>
                  <a:srgbClr val="141826"/>
                </a:solidFill>
                <a:latin typeface="Segoe UI"/>
              </a:rPr>
              <a:t>Понятная боль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3246120"/>
            <a:ext cx="128016" cy="502920"/>
          </a:xfrm>
          <a:prstGeom prst="rect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3080" y="3246120"/>
            <a:ext cx="82296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800" b="1" i="0">
                <a:solidFill>
                  <a:srgbClr val="141826"/>
                </a:solidFill>
                <a:latin typeface="Segoe UI"/>
              </a:rPr>
              <a:t>Частые поездки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4023360"/>
            <a:ext cx="128016" cy="502920"/>
          </a:xfrm>
          <a:prstGeom prst="rect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4023360"/>
            <a:ext cx="82296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800" b="1" i="0">
                <a:solidFill>
                  <a:srgbClr val="141826"/>
                </a:solidFill>
                <a:latin typeface="Segoe UI"/>
              </a:rPr>
              <a:t>Личные клиенты уже есть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4800600"/>
            <a:ext cx="128016" cy="502920"/>
          </a:xfrm>
          <a:prstGeom prst="rect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4800600"/>
            <a:ext cx="8229600" cy="5029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800" b="1" i="0">
                <a:solidFill>
                  <a:srgbClr val="141826"/>
                </a:solidFill>
                <a:latin typeface="Segoe UI"/>
              </a:rPr>
              <a:t>Быстрая обратная связь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000" b="0" i="0">
                <a:solidFill>
                  <a:srgbClr val="5B647A"/>
                </a:solidFill>
                <a:latin typeface="Segoe U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1E9E86"/>
                </a:solidFill>
                <a:latin typeface="Segoe UI Semibold"/>
              </a:rPr>
              <a:t>ПЕРВАЯ ЛАБОРАТОРИЯ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800" b="1" i="0">
                <a:solidFill>
                  <a:srgbClr val="141826"/>
                </a:solidFill>
                <a:latin typeface="Segoe UI Semibold"/>
              </a:rPr>
              <a:t>Почему нужен один город</a:t>
            </a:r>
          </a:p>
        </p:txBody>
      </p:sp>
      <p:sp>
        <p:nvSpPr>
          <p:cNvPr id="4" name="Oval 3"/>
          <p:cNvSpPr/>
          <p:nvPr/>
        </p:nvSpPr>
        <p:spPr>
          <a:xfrm>
            <a:off x="2660904" y="2843784"/>
            <a:ext cx="164592" cy="164592"/>
          </a:xfrm>
          <a:prstGeom prst="ellipse">
            <a:avLst/>
          </a:prstGeom>
          <a:solidFill>
            <a:srgbClr val="D3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23944" y="2295144"/>
            <a:ext cx="164592" cy="164592"/>
          </a:xfrm>
          <a:prstGeom prst="ellipse">
            <a:avLst/>
          </a:prstGeom>
          <a:solidFill>
            <a:srgbClr val="D3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78824" y="2569464"/>
            <a:ext cx="164592" cy="164592"/>
          </a:xfrm>
          <a:prstGeom prst="ellipse">
            <a:avLst/>
          </a:prstGeom>
          <a:solidFill>
            <a:srgbClr val="D3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84664" y="3666743"/>
            <a:ext cx="164592" cy="164592"/>
          </a:xfrm>
          <a:prstGeom prst="ellipse">
            <a:avLst/>
          </a:prstGeom>
          <a:solidFill>
            <a:srgbClr val="D3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41464" y="4855464"/>
            <a:ext cx="164592" cy="164592"/>
          </a:xfrm>
          <a:prstGeom prst="ellipse">
            <a:avLst/>
          </a:prstGeom>
          <a:solidFill>
            <a:srgbClr val="D3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392424" y="5129784"/>
            <a:ext cx="164592" cy="164592"/>
          </a:xfrm>
          <a:prstGeom prst="ellipse">
            <a:avLst/>
          </a:prstGeom>
          <a:solidFill>
            <a:srgbClr val="D3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24744" y="5312664"/>
            <a:ext cx="164592" cy="164592"/>
          </a:xfrm>
          <a:prstGeom prst="ellipse">
            <a:avLst/>
          </a:prstGeom>
          <a:solidFill>
            <a:srgbClr val="D3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06440" y="3474719"/>
            <a:ext cx="548640" cy="548640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4187951"/>
            <a:ext cx="2011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100" b="1" i="0">
                <a:solidFill>
                  <a:srgbClr val="141826"/>
                </a:solidFill>
                <a:latin typeface="Segoe UI"/>
              </a:rPr>
              <a:t>Агидель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577840"/>
            <a:ext cx="94183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700" b="0" i="0">
                <a:solidFill>
                  <a:srgbClr val="5B647A"/>
                </a:solidFill>
                <a:latin typeface="Segoe UI"/>
              </a:rPr>
              <a:t>Не рынок, который мы захватываем. Лаборатория, где мы проверяем механизм.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000" b="0" i="0">
                <a:solidFill>
                  <a:srgbClr val="5B647A"/>
                </a:solidFill>
                <a:latin typeface="Segoe U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2BD6B2"/>
                </a:solidFill>
                <a:latin typeface="Segoe UI Semibold"/>
              </a:rPr>
              <a:t>ГДЕ МЫ СЕЙЧАС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 Semibold"/>
              </a:rPr>
              <a:t>Это уже не только идея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17320" y="3749039"/>
            <a:ext cx="1783080" cy="0"/>
          </a:xfrm>
          <a:prstGeom prst="line">
            <a:avLst/>
          </a:prstGeom>
          <a:ln w="25400">
            <a:solidFill>
              <a:srgbClr val="3A4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00400" y="3749039"/>
            <a:ext cx="1783080" cy="0"/>
          </a:xfrm>
          <a:prstGeom prst="line">
            <a:avLst/>
          </a:prstGeom>
          <a:ln w="25400">
            <a:solidFill>
              <a:srgbClr val="3A4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983480" y="3749039"/>
            <a:ext cx="1783079" cy="0"/>
          </a:xfrm>
          <a:prstGeom prst="line">
            <a:avLst/>
          </a:prstGeom>
          <a:ln w="25400">
            <a:solidFill>
              <a:srgbClr val="3A4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766559" y="3749039"/>
            <a:ext cx="1783081" cy="0"/>
          </a:xfrm>
          <a:prstGeom prst="line">
            <a:avLst/>
          </a:prstGeom>
          <a:ln w="25400">
            <a:solidFill>
              <a:srgbClr val="3A4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549640" y="3749039"/>
            <a:ext cx="1783080" cy="0"/>
          </a:xfrm>
          <a:prstGeom prst="line">
            <a:avLst/>
          </a:prstGeom>
          <a:ln w="25400">
            <a:solidFill>
              <a:srgbClr val="3A466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197864" y="3529583"/>
            <a:ext cx="438912" cy="438912"/>
          </a:xfrm>
          <a:prstGeom prst="ellipse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160520"/>
            <a:ext cx="16459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IDEA</a:t>
            </a:r>
          </a:p>
        </p:txBody>
      </p:sp>
      <p:sp>
        <p:nvSpPr>
          <p:cNvPr id="11" name="Oval 10"/>
          <p:cNvSpPr/>
          <p:nvPr/>
        </p:nvSpPr>
        <p:spPr>
          <a:xfrm>
            <a:off x="2980944" y="3529583"/>
            <a:ext cx="438912" cy="438912"/>
          </a:xfrm>
          <a:prstGeom prst="ellipse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4160520"/>
            <a:ext cx="16459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RULES</a:t>
            </a:r>
          </a:p>
        </p:txBody>
      </p:sp>
      <p:sp>
        <p:nvSpPr>
          <p:cNvPr id="13" name="Oval 12"/>
          <p:cNvSpPr/>
          <p:nvPr/>
        </p:nvSpPr>
        <p:spPr>
          <a:xfrm>
            <a:off x="4764024" y="3529583"/>
            <a:ext cx="438912" cy="438912"/>
          </a:xfrm>
          <a:prstGeom prst="ellipse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4160520"/>
            <a:ext cx="16459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PRODUCT</a:t>
            </a:r>
          </a:p>
        </p:txBody>
      </p:sp>
      <p:sp>
        <p:nvSpPr>
          <p:cNvPr id="15" name="Oval 14"/>
          <p:cNvSpPr/>
          <p:nvPr/>
        </p:nvSpPr>
        <p:spPr>
          <a:xfrm>
            <a:off x="6547103" y="3529583"/>
            <a:ext cx="438912" cy="438912"/>
          </a:xfrm>
          <a:prstGeom prst="ellipse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599" y="4160520"/>
            <a:ext cx="16459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WORKING FLOW</a:t>
            </a:r>
          </a:p>
        </p:txBody>
      </p:sp>
      <p:sp>
        <p:nvSpPr>
          <p:cNvPr id="17" name="Oval 16"/>
          <p:cNvSpPr/>
          <p:nvPr/>
        </p:nvSpPr>
        <p:spPr>
          <a:xfrm>
            <a:off x="8330184" y="3529583"/>
            <a:ext cx="438912" cy="438912"/>
          </a:xfrm>
          <a:prstGeom prst="ellipse">
            <a:avLst/>
          </a:prstGeom>
          <a:solidFill>
            <a:srgbClr val="8A9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4160520"/>
            <a:ext cx="16459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Segoe UI"/>
              </a:rPr>
              <a:t>DRY RUN</a:t>
            </a:r>
          </a:p>
        </p:txBody>
      </p:sp>
      <p:sp>
        <p:nvSpPr>
          <p:cNvPr id="19" name="Oval 18"/>
          <p:cNvSpPr/>
          <p:nvPr/>
        </p:nvSpPr>
        <p:spPr>
          <a:xfrm>
            <a:off x="10040112" y="3456431"/>
            <a:ext cx="585216" cy="585216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4160520"/>
            <a:ext cx="16459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400" b="1" i="0">
                <a:solidFill>
                  <a:srgbClr val="2BD6B2"/>
                </a:solidFill>
                <a:latin typeface="Segoe UI"/>
              </a:rPr>
              <a:t>REAL PEOPLE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Segoe U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1E9E86"/>
                </a:solidFill>
                <a:latin typeface="Segoe UI Semibold"/>
              </a:rPr>
              <a:t>ВОЗМОЖНОСТЬ РАЗВИТИЯ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800" b="1" i="0">
                <a:solidFill>
                  <a:srgbClr val="141826"/>
                </a:solidFill>
                <a:latin typeface="Segoe UI Semibold"/>
              </a:rPr>
              <a:t>Что может вырасти из этого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2514600"/>
            <a:ext cx="1828800" cy="530352"/>
          </a:xfrm>
          <a:prstGeom prst="rect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514600"/>
            <a:ext cx="1554480" cy="53035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i="0">
                <a:solidFill>
                  <a:srgbClr val="141826"/>
                </a:solidFill>
                <a:latin typeface="Segoe UI"/>
              </a:rPr>
              <a:t>Первый пилот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172968"/>
            <a:ext cx="3566160" cy="530352"/>
          </a:xfrm>
          <a:prstGeom prst="rect">
            <a:avLst/>
          </a:prstGeom>
          <a:solidFill>
            <a:srgbClr val="D0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172968"/>
            <a:ext cx="3291840" cy="53035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i="0">
                <a:solidFill>
                  <a:srgbClr val="141826"/>
                </a:solidFill>
                <a:latin typeface="Segoe UI"/>
              </a:rPr>
              <a:t>Проверка модели в городе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831335"/>
            <a:ext cx="5303520" cy="530352"/>
          </a:xfrm>
          <a:prstGeom prst="rect">
            <a:avLst/>
          </a:prstGeom>
          <a:solidFill>
            <a:srgbClr val="C8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831335"/>
            <a:ext cx="5029200" cy="53035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i="0">
                <a:solidFill>
                  <a:srgbClr val="141826"/>
                </a:solidFill>
                <a:latin typeface="Segoe UI"/>
              </a:rPr>
              <a:t>Развитие сети водителей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4489704"/>
            <a:ext cx="7040879" cy="530352"/>
          </a:xfrm>
          <a:prstGeom prst="rect">
            <a:avLst/>
          </a:prstGeom>
          <a:solidFill>
            <a:srgbClr val="C0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489704"/>
            <a:ext cx="6766559" cy="53035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i="0">
                <a:solidFill>
                  <a:srgbClr val="141826"/>
                </a:solidFill>
                <a:latin typeface="Segoe UI"/>
              </a:rPr>
              <a:t>Другие сферы малого бизнеса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5148072"/>
            <a:ext cx="8778240" cy="530352"/>
          </a:xfrm>
          <a:prstGeom prst="rect">
            <a:avLst/>
          </a:prstGeom>
          <a:solidFill>
            <a:srgbClr val="B8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5148072"/>
            <a:ext cx="8503919" cy="53035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1300" b="1" i="0">
                <a:solidFill>
                  <a:srgbClr val="141826"/>
                </a:solidFill>
                <a:latin typeface="Segoe UI"/>
              </a:rPr>
              <a:t>Масштабирование платформы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6080760"/>
            <a:ext cx="9601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400" b="0" i="1">
                <a:solidFill>
                  <a:srgbClr val="5B647A"/>
                </a:solidFill>
                <a:latin typeface="Segoe UI"/>
              </a:rPr>
              <a:t>Возможность развития, а не гарантия.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000" b="0" i="0">
                <a:solidFill>
                  <a:srgbClr val="5B647A"/>
                </a:solidFill>
                <a:latin typeface="Segoe U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965960"/>
            <a:ext cx="10149840" cy="27432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FFFFFF"/>
                </a:solidFill>
                <a:latin typeface="Segoe UI Light"/>
              </a:rPr>
              <a:t>Создаёт ли PIOS для водителя дополнительную ценность
по сравнению с его текущим способом получения заказов?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Segoe U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300" b="1" i="0">
                <a:solidFill>
                  <a:srgbClr val="2BD6B2"/>
                </a:solidFill>
                <a:latin typeface="Segoe UI Semibold"/>
              </a:rPr>
              <a:t>ПЕРВЫЕ ПАРТНЁРЫ</a:t>
            </a:r>
          </a:p>
        </p:txBody>
      </p:sp>
      <p:sp>
        <p:nvSpPr>
          <p:cNvPr id="3" name="Oval 2"/>
          <p:cNvSpPr/>
          <p:nvPr/>
        </p:nvSpPr>
        <p:spPr>
          <a:xfrm>
            <a:off x="2377440" y="2926080"/>
            <a:ext cx="731520" cy="731520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754880" y="2926080"/>
            <a:ext cx="731520" cy="731520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0" y="2926080"/>
            <a:ext cx="731520" cy="731520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0" y="2926080"/>
            <a:ext cx="731520" cy="731520"/>
          </a:xfrm>
          <a:prstGeom prst="ellipse">
            <a:avLst/>
          </a:prstGeom>
          <a:solidFill>
            <a:srgbClr val="2BD6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3794760"/>
            <a:ext cx="2011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Регина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794760"/>
            <a:ext cx="2011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Артур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794760"/>
            <a:ext cx="2011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3 водителя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3794760"/>
            <a:ext cx="20116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Агидель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892040"/>
            <a:ext cx="978408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900" b="0" i="0">
                <a:solidFill>
                  <a:srgbClr val="2BD6B2"/>
                </a:solidFill>
                <a:latin typeface="Segoe UI"/>
              </a:rPr>
              <a:t>Это не участники пилота. Это первые партнёры, которые вместе с нами
помогают построить саму модель.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Segoe U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