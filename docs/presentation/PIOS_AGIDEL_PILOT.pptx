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731520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300" b="1" i="0">
                <a:solidFill>
                  <a:srgbClr val="2BD6B2"/>
                </a:solidFill>
                <a:latin typeface="Segoe UI Semibold"/>
              </a:rPr>
              <a:t>PIOS TAXI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332720" cy="11887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Segoe UI Semibold"/>
              </a:rPr>
              <a:t>Агидель — первая точка проверки идеи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3520440"/>
            <a:ext cx="9235440" cy="9144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800" b="0" i="0">
                <a:solidFill>
                  <a:srgbClr val="2BD6B2"/>
                </a:solidFill>
                <a:latin typeface="Segoe UI"/>
              </a:rPr>
              <a:t>3 водителя. Реальные пассажиры. Один вопрос:
работает ли это для живых людей?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54864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/>
            <a:r>
              <a:rPr sz="1000" b="0" i="0">
                <a:solidFill>
                  <a:srgbClr val="8A93A8"/>
                </a:solidFill>
                <a:latin typeface="Segoe UI"/>
              </a:rPr>
              <a:t>01 /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2468880"/>
            <a:ext cx="9966960" cy="20116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2800" b="1" i="0">
                <a:solidFill>
                  <a:srgbClr val="FFFFFF"/>
                </a:solidFill>
                <a:latin typeface="Segoe UI Light"/>
              </a:rPr>
              <a:t>Может ли PIOS помочь человеку
укреплять и развивать свои отношения с клиентами?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75720" y="6473952"/>
            <a:ext cx="54864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/>
            <a:r>
              <a:rPr sz="1000" b="0" i="0">
                <a:solidFill>
                  <a:srgbClr val="8A93A8"/>
                </a:solidFill>
                <a:latin typeface="Segoe UI"/>
              </a:rPr>
              <a:t>02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731520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300" b="1" i="0">
                <a:solidFill>
                  <a:srgbClr val="1E9E86"/>
                </a:solidFill>
                <a:latin typeface="Segoe UI Semibold"/>
              </a:rPr>
              <a:t>УЖЕ РАБОТАЕТ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05840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3000" b="1" i="0">
                <a:solidFill>
                  <a:srgbClr val="141826"/>
                </a:solidFill>
                <a:latin typeface="Segoe UI Semibold"/>
              </a:rPr>
              <a:t>Что уже работает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3429000"/>
            <a:ext cx="1481328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3D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>
            <a:noAutofit/>
          </a:bodyPr>
          <a:lstStyle/>
          <a:p>
            <a:pPr algn="ctr"/>
            <a:r>
              <a:rPr sz="1100" b="1" i="0">
                <a:solidFill>
                  <a:srgbClr val="141826"/>
                </a:solidFill>
                <a:latin typeface="Segoe UI"/>
              </a:rPr>
              <a:t>Пассажир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67128" y="3429000"/>
            <a:ext cx="1481328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3D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>
            <a:noAutofit/>
          </a:bodyPr>
          <a:lstStyle/>
          <a:p>
            <a:pPr algn="ctr"/>
            <a:r>
              <a:rPr sz="1100" b="1" i="0">
                <a:solidFill>
                  <a:srgbClr val="141826"/>
                </a:solidFill>
                <a:latin typeface="Segoe UI"/>
              </a:rPr>
              <a:t>Заказ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31336" y="3429000"/>
            <a:ext cx="1481328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3D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>
            <a:noAutofit/>
          </a:bodyPr>
          <a:lstStyle/>
          <a:p>
            <a:pPr algn="ctr"/>
            <a:r>
              <a:rPr sz="1100" b="1" i="0">
                <a:solidFill>
                  <a:srgbClr val="141826"/>
                </a:solidFill>
                <a:latin typeface="Segoe UI"/>
              </a:rPr>
              <a:t>Координатор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95544" y="3429000"/>
            <a:ext cx="1481328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3D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>
            <a:noAutofit/>
          </a:bodyPr>
          <a:lstStyle/>
          <a:p>
            <a:pPr algn="ctr"/>
            <a:r>
              <a:rPr sz="1100" b="1" i="0">
                <a:solidFill>
                  <a:srgbClr val="141826"/>
                </a:solidFill>
                <a:latin typeface="Segoe UI"/>
              </a:rPr>
              <a:t>Предложение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59752" y="3429000"/>
            <a:ext cx="1481328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3D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>
            <a:noAutofit/>
          </a:bodyPr>
          <a:lstStyle/>
          <a:p>
            <a:pPr algn="ctr"/>
            <a:r>
              <a:rPr sz="1100" b="1" i="0">
                <a:solidFill>
                  <a:srgbClr val="141826"/>
                </a:solidFill>
                <a:latin typeface="Segoe UI"/>
              </a:rPr>
              <a:t>Водитель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3429000"/>
            <a:ext cx="1481328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3D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>
            <a:noAutofit/>
          </a:bodyPr>
          <a:lstStyle/>
          <a:p>
            <a:pPr algn="ctr"/>
            <a:r>
              <a:rPr sz="1100" b="1" i="0">
                <a:solidFill>
                  <a:srgbClr val="141826"/>
                </a:solidFill>
                <a:latin typeface="Segoe UI"/>
              </a:rPr>
              <a:t>Принятие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488168" y="3429000"/>
            <a:ext cx="1481328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3D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>
            <a:noAutofit/>
          </a:bodyPr>
          <a:lstStyle/>
          <a:p>
            <a:pPr algn="ctr"/>
            <a:r>
              <a:rPr sz="1100" b="1" i="0">
                <a:solidFill>
                  <a:srgbClr val="141826"/>
                </a:solidFill>
                <a:latin typeface="Segoe UI"/>
              </a:rPr>
              <a:t>Закрепление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984248" y="3429000"/>
            <a:ext cx="182880" cy="0"/>
          </a:xfrm>
          <a:prstGeom prst="line">
            <a:avLst/>
          </a:prstGeom>
          <a:ln w="19050">
            <a:solidFill>
              <a:srgbClr val="1E9E8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648456" y="3429000"/>
            <a:ext cx="182880" cy="0"/>
          </a:xfrm>
          <a:prstGeom prst="line">
            <a:avLst/>
          </a:prstGeom>
          <a:ln w="19050">
            <a:solidFill>
              <a:srgbClr val="1E9E8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312664" y="3429000"/>
            <a:ext cx="182880" cy="0"/>
          </a:xfrm>
          <a:prstGeom prst="line">
            <a:avLst/>
          </a:prstGeom>
          <a:ln w="19050">
            <a:solidFill>
              <a:srgbClr val="1E9E8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976872" y="3429000"/>
            <a:ext cx="182880" cy="0"/>
          </a:xfrm>
          <a:prstGeom prst="line">
            <a:avLst/>
          </a:prstGeom>
          <a:ln w="19050">
            <a:solidFill>
              <a:srgbClr val="1E9E8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641080" y="3429000"/>
            <a:ext cx="182880" cy="0"/>
          </a:xfrm>
          <a:prstGeom prst="line">
            <a:avLst/>
          </a:prstGeom>
          <a:ln w="19050">
            <a:solidFill>
              <a:srgbClr val="1E9E8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305288" y="3429000"/>
            <a:ext cx="182880" cy="0"/>
          </a:xfrm>
          <a:prstGeom prst="line">
            <a:avLst/>
          </a:prstGeom>
          <a:ln w="19050">
            <a:solidFill>
              <a:srgbClr val="1E9E8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371600" y="5120640"/>
            <a:ext cx="941832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1400" b="0" i="1">
                <a:solidFill>
                  <a:srgbClr val="5B647A"/>
                </a:solidFill>
                <a:latin typeface="Segoe UI"/>
              </a:rPr>
              <a:t>Проверено сегодня — реальными запросами и настоящей базой данных.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75720" y="6473952"/>
            <a:ext cx="54864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/>
            <a:r>
              <a:rPr sz="1000" b="0" i="0">
                <a:solidFill>
                  <a:srgbClr val="5B647A"/>
                </a:solidFill>
                <a:latin typeface="Segoe UI"/>
              </a:rPr>
              <a:t>03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731520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300" b="1" i="0">
                <a:solidFill>
                  <a:srgbClr val="1E9E86"/>
                </a:solidFill>
                <a:latin typeface="Segoe UI Semibold"/>
              </a:rPr>
              <a:t>ГРАНИЦЫ ПИЛОТА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05840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3000" b="1" i="0">
                <a:solidFill>
                  <a:srgbClr val="141826"/>
                </a:solidFill>
                <a:latin typeface="Segoe UI Semibold"/>
              </a:rPr>
              <a:t>Что мы НЕ строим сейчас</a:t>
            </a:r>
          </a:p>
        </p:txBody>
      </p:sp>
      <p:sp>
        <p:nvSpPr>
          <p:cNvPr id="4" name="Rectangle 3"/>
          <p:cNvSpPr/>
          <p:nvPr/>
        </p:nvSpPr>
        <p:spPr>
          <a:xfrm>
            <a:off x="1463040" y="2459736"/>
            <a:ext cx="320040" cy="36576"/>
          </a:xfrm>
          <a:prstGeom prst="rect">
            <a:avLst/>
          </a:prstGeom>
          <a:solidFill>
            <a:srgbClr val="C2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65960" y="2331720"/>
            <a:ext cx="8229600" cy="4572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700" b="0" i="0">
                <a:solidFill>
                  <a:srgbClr val="141826"/>
                </a:solidFill>
                <a:latin typeface="Segoe UI"/>
              </a:rPr>
              <a:t>Автоматический диспетчер</a:t>
            </a:r>
          </a:p>
        </p:txBody>
      </p:sp>
      <p:sp>
        <p:nvSpPr>
          <p:cNvPr id="6" name="Rectangle 5"/>
          <p:cNvSpPr/>
          <p:nvPr/>
        </p:nvSpPr>
        <p:spPr>
          <a:xfrm>
            <a:off x="1463040" y="3026664"/>
            <a:ext cx="320040" cy="36576"/>
          </a:xfrm>
          <a:prstGeom prst="rect">
            <a:avLst/>
          </a:prstGeom>
          <a:solidFill>
            <a:srgbClr val="C2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65960" y="2898648"/>
            <a:ext cx="8229600" cy="4572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700" b="0" i="0">
                <a:solidFill>
                  <a:srgbClr val="141826"/>
                </a:solidFill>
                <a:latin typeface="Segoe UI"/>
              </a:rPr>
              <a:t>Агрегатор</a:t>
            </a:r>
          </a:p>
        </p:txBody>
      </p:sp>
      <p:sp>
        <p:nvSpPr>
          <p:cNvPr id="8" name="Rectangle 7"/>
          <p:cNvSpPr/>
          <p:nvPr/>
        </p:nvSpPr>
        <p:spPr>
          <a:xfrm>
            <a:off x="1463040" y="3593592"/>
            <a:ext cx="320040" cy="36576"/>
          </a:xfrm>
          <a:prstGeom prst="rect">
            <a:avLst/>
          </a:prstGeom>
          <a:solidFill>
            <a:srgbClr val="C2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65960" y="3465576"/>
            <a:ext cx="8229600" cy="4572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700" b="0" i="0">
                <a:solidFill>
                  <a:srgbClr val="141826"/>
                </a:solidFill>
                <a:latin typeface="Segoe UI"/>
              </a:rPr>
              <a:t>Платёжную систему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63040" y="4160520"/>
            <a:ext cx="320040" cy="36576"/>
          </a:xfrm>
          <a:prstGeom prst="rect">
            <a:avLst/>
          </a:prstGeom>
          <a:solidFill>
            <a:srgbClr val="C2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65960" y="4032504"/>
            <a:ext cx="8229600" cy="4572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700" b="0" i="0">
                <a:solidFill>
                  <a:srgbClr val="141826"/>
                </a:solidFill>
                <a:latin typeface="Segoe UI"/>
              </a:rPr>
              <a:t>Маркетплейс услуг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63040" y="4727448"/>
            <a:ext cx="320040" cy="36576"/>
          </a:xfrm>
          <a:prstGeom prst="rect">
            <a:avLst/>
          </a:prstGeom>
          <a:solidFill>
            <a:srgbClr val="C2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65960" y="4599432"/>
            <a:ext cx="8229600" cy="4572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700" b="0" i="0">
                <a:solidFill>
                  <a:srgbClr val="141826"/>
                </a:solidFill>
                <a:latin typeface="Segoe UI"/>
              </a:rPr>
              <a:t>Сеть городов сразу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623560"/>
            <a:ext cx="941832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450" b="0" i="0">
                <a:solidFill>
                  <a:srgbClr val="5B647A"/>
                </a:solidFill>
                <a:latin typeface="Segoe UI"/>
              </a:rPr>
              <a:t>Мы проверяем одну гипотезу: может ли PIOS помочь человеку укреплять
и развивать свои собственные отношения с клиентами?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75720" y="6473952"/>
            <a:ext cx="54864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/>
            <a:r>
              <a:rPr sz="1000" b="0" i="0">
                <a:solidFill>
                  <a:srgbClr val="5B647A"/>
                </a:solidFill>
                <a:latin typeface="Segoe UI"/>
              </a:rPr>
              <a:t>04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731520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300" b="1" i="0">
                <a:solidFill>
                  <a:srgbClr val="1E9E86"/>
                </a:solidFill>
                <a:latin typeface="Segoe UI Semibold"/>
              </a:rPr>
              <a:t>КТО УЧАСТВУЕТ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05840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2800" b="1" i="0">
                <a:solidFill>
                  <a:srgbClr val="141826"/>
                </a:solidFill>
                <a:latin typeface="Segoe UI Semibold"/>
              </a:rPr>
              <a:t>От идеи к первым людям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21408"/>
            <a:ext cx="2468880" cy="36576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050" b="1" i="0">
                <a:solidFill>
                  <a:srgbClr val="5B647A"/>
                </a:solidFill>
                <a:latin typeface="Segoe UI"/>
              </a:rPr>
              <a:t>СОЗДАТЕЛЬ МОДЕЛИ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64408"/>
            <a:ext cx="2468880" cy="36576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050" b="1" i="0">
                <a:solidFill>
                  <a:srgbClr val="5B647A"/>
                </a:solidFill>
                <a:latin typeface="Segoe UI"/>
              </a:rPr>
              <a:t>ПЕРВЫЕ ПАРТНЁРЫ ГОРОДА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407408"/>
            <a:ext cx="2468880" cy="36576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050" b="1" i="0">
                <a:solidFill>
                  <a:srgbClr val="5B647A"/>
                </a:solidFill>
                <a:latin typeface="Segoe UI"/>
              </a:rPr>
              <a:t>ПЕРВЫЕ УЧАСТНИКИ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550408"/>
            <a:ext cx="2468880" cy="36576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050" b="1" i="0">
                <a:solidFill>
                  <a:srgbClr val="5B647A"/>
                </a:solidFill>
                <a:latin typeface="Segoe UI"/>
              </a:rPr>
              <a:t>ПЕРВЫЕ ПОЛЬЗОВАТЕЛИ</a:t>
            </a:r>
          </a:p>
        </p:txBody>
      </p:sp>
      <p:sp>
        <p:nvSpPr>
          <p:cNvPr id="8" name="Oval 7"/>
          <p:cNvSpPr/>
          <p:nvPr/>
        </p:nvSpPr>
        <p:spPr>
          <a:xfrm>
            <a:off x="7114032" y="1993392"/>
            <a:ext cx="585216" cy="585216"/>
          </a:xfrm>
          <a:prstGeom prst="ellipse">
            <a:avLst/>
          </a:prstGeom>
          <a:solidFill>
            <a:srgbClr val="14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743200"/>
            <a:ext cx="201168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1100" b="1" i="0">
                <a:solidFill>
                  <a:srgbClr val="141826"/>
                </a:solidFill>
                <a:latin typeface="Segoe UI"/>
              </a:rPr>
              <a:t>Ильдар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6126480" y="2578608"/>
            <a:ext cx="1280160" cy="576072"/>
          </a:xfrm>
          <a:prstGeom prst="line">
            <a:avLst/>
          </a:prstGeom>
          <a:ln w="15240">
            <a:solidFill>
              <a:srgbClr val="D3D8E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406640" y="2578608"/>
            <a:ext cx="1280160" cy="576072"/>
          </a:xfrm>
          <a:prstGeom prst="line">
            <a:avLst/>
          </a:prstGeom>
          <a:ln w="15240">
            <a:solidFill>
              <a:srgbClr val="D3D8E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5852160" y="3154680"/>
            <a:ext cx="548640" cy="548640"/>
          </a:xfrm>
          <a:prstGeom prst="ellipse">
            <a:avLst/>
          </a:prstGeom>
          <a:solidFill>
            <a:srgbClr val="8A9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0" y="3867912"/>
            <a:ext cx="201168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1100" b="1" i="0">
                <a:solidFill>
                  <a:srgbClr val="141826"/>
                </a:solidFill>
                <a:latin typeface="Segoe UI"/>
              </a:rPr>
              <a:t>Артур</a:t>
            </a:r>
          </a:p>
        </p:txBody>
      </p:sp>
      <p:sp>
        <p:nvSpPr>
          <p:cNvPr id="14" name="Oval 13"/>
          <p:cNvSpPr/>
          <p:nvPr/>
        </p:nvSpPr>
        <p:spPr>
          <a:xfrm>
            <a:off x="8412480" y="3154680"/>
            <a:ext cx="548640" cy="548640"/>
          </a:xfrm>
          <a:prstGeom prst="ellipse">
            <a:avLst/>
          </a:prstGeom>
          <a:solidFill>
            <a:srgbClr val="8A9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3867912"/>
            <a:ext cx="201168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1100" b="1" i="0">
                <a:solidFill>
                  <a:srgbClr val="141826"/>
                </a:solidFill>
                <a:latin typeface="Segoe UI"/>
              </a:rPr>
              <a:t>Регина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126480" y="3703320"/>
            <a:ext cx="0" cy="612648"/>
          </a:xfrm>
          <a:prstGeom prst="line">
            <a:avLst/>
          </a:prstGeom>
          <a:ln w="13970">
            <a:solidFill>
              <a:srgbClr val="D3D8E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686800" y="3703320"/>
            <a:ext cx="0" cy="612648"/>
          </a:xfrm>
          <a:prstGeom prst="line">
            <a:avLst/>
          </a:prstGeom>
          <a:ln w="13970">
            <a:solidFill>
              <a:srgbClr val="D3D8E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5870448" y="4315968"/>
            <a:ext cx="512064" cy="512064"/>
          </a:xfrm>
          <a:prstGeom prst="ellipse">
            <a:avLst/>
          </a:prstGeom>
          <a:solidFill>
            <a:srgbClr val="8A9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0" y="4992624"/>
            <a:ext cx="201168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1100" b="1" i="0">
                <a:solidFill>
                  <a:srgbClr val="141826"/>
                </a:solidFill>
                <a:latin typeface="Segoe UI"/>
              </a:rPr>
              <a:t>Координатор</a:t>
            </a:r>
          </a:p>
        </p:txBody>
      </p:sp>
      <p:sp>
        <p:nvSpPr>
          <p:cNvPr id="20" name="Oval 19"/>
          <p:cNvSpPr/>
          <p:nvPr/>
        </p:nvSpPr>
        <p:spPr>
          <a:xfrm>
            <a:off x="8430768" y="4315968"/>
            <a:ext cx="512064" cy="512064"/>
          </a:xfrm>
          <a:prstGeom prst="ellipse">
            <a:avLst/>
          </a:prstGeom>
          <a:solidFill>
            <a:srgbClr val="8A9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60" y="4992624"/>
            <a:ext cx="201168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1100" b="1" i="0">
                <a:solidFill>
                  <a:srgbClr val="141826"/>
                </a:solidFill>
                <a:latin typeface="Segoe UI"/>
              </a:rPr>
              <a:t>3 водителя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126480" y="4828032"/>
            <a:ext cx="1280160" cy="594360"/>
          </a:xfrm>
          <a:prstGeom prst="line">
            <a:avLst/>
          </a:prstGeom>
          <a:ln w="13970">
            <a:solidFill>
              <a:srgbClr val="D3D8E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7406640" y="4828032"/>
            <a:ext cx="1280160" cy="594360"/>
          </a:xfrm>
          <a:prstGeom prst="line">
            <a:avLst/>
          </a:prstGeom>
          <a:ln w="13970">
            <a:solidFill>
              <a:srgbClr val="D3D8E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7114032" y="5422392"/>
            <a:ext cx="585216" cy="585216"/>
          </a:xfrm>
          <a:prstGeom prst="ellipse">
            <a:avLst/>
          </a:prstGeom>
          <a:solidFill>
            <a:srgbClr val="2BD6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6172200"/>
            <a:ext cx="201168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1100" b="1" i="0">
                <a:solidFill>
                  <a:srgbClr val="141826"/>
                </a:solidFill>
                <a:latin typeface="Segoe UI"/>
              </a:rPr>
              <a:t>Пассажиры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75720" y="6473952"/>
            <a:ext cx="54864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/>
            <a:r>
              <a:rPr sz="1000" b="0" i="0">
                <a:solidFill>
                  <a:srgbClr val="5B647A"/>
                </a:solidFill>
                <a:latin typeface="Segoe UI"/>
              </a:rPr>
              <a:t>05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731520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300" b="1" i="0">
                <a:solidFill>
                  <a:srgbClr val="1E9E86"/>
                </a:solidFill>
                <a:latin typeface="Segoe UI Semibold"/>
              </a:rPr>
              <a:t>ОБСУЖДАЕМ ВМЕСТЕ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05840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2800" b="1" i="0">
                <a:solidFill>
                  <a:srgbClr val="141826"/>
                </a:solidFill>
                <a:latin typeface="Segoe UI Semibold"/>
              </a:rPr>
              <a:t>Роль Артура (для обсуждения)</a:t>
            </a:r>
          </a:p>
        </p:txBody>
      </p:sp>
      <p:sp>
        <p:nvSpPr>
          <p:cNvPr id="4" name="Oval 3"/>
          <p:cNvSpPr/>
          <p:nvPr/>
        </p:nvSpPr>
        <p:spPr>
          <a:xfrm>
            <a:off x="3337560" y="3063240"/>
            <a:ext cx="1005840" cy="1005840"/>
          </a:xfrm>
          <a:prstGeom prst="ellipse">
            <a:avLst/>
          </a:prstGeom>
          <a:solidFill>
            <a:srgbClr val="14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34640" y="4233672"/>
            <a:ext cx="201168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1100" b="1" i="0">
                <a:solidFill>
                  <a:srgbClr val="141826"/>
                </a:solidFill>
                <a:latin typeface="Segoe UI"/>
              </a:rPr>
              <a:t>Артур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4389120" y="2880360"/>
            <a:ext cx="2423160" cy="685800"/>
          </a:xfrm>
          <a:prstGeom prst="line">
            <a:avLst/>
          </a:prstGeom>
          <a:ln w="15240">
            <a:solidFill>
              <a:srgbClr val="D3D8E2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949440" y="2651760"/>
            <a:ext cx="4023360" cy="502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3D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>
            <a:noAutofit/>
          </a:bodyPr>
          <a:lstStyle/>
          <a:p>
            <a:pPr algn="l"/>
            <a:r>
              <a:rPr sz="1400" b="1" i="0">
                <a:solidFill>
                  <a:srgbClr val="141826"/>
                </a:solidFill>
                <a:latin typeface="Segoe UI"/>
              </a:rPr>
              <a:t>Носитель исходной проблемы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389120" y="3566160"/>
            <a:ext cx="2423160" cy="182879"/>
          </a:xfrm>
          <a:prstGeom prst="line">
            <a:avLst/>
          </a:prstGeom>
          <a:ln w="15240">
            <a:solidFill>
              <a:srgbClr val="D3D8E2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949440" y="3520439"/>
            <a:ext cx="4023360" cy="502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3D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>
            <a:noAutofit/>
          </a:bodyPr>
          <a:lstStyle/>
          <a:p>
            <a:pPr algn="l"/>
            <a:r>
              <a:rPr sz="1400" b="1" i="0">
                <a:solidFill>
                  <a:srgbClr val="141826"/>
                </a:solidFill>
                <a:latin typeface="Segoe UI"/>
              </a:rPr>
              <a:t>Голос водителей в пилоте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389120" y="3566160"/>
            <a:ext cx="2423160" cy="1051560"/>
          </a:xfrm>
          <a:prstGeom prst="line">
            <a:avLst/>
          </a:prstGeom>
          <a:ln w="15240">
            <a:solidFill>
              <a:srgbClr val="D3D8E2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0" y="4389120"/>
            <a:ext cx="4023360" cy="502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3D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>
            <a:noAutofit/>
          </a:bodyPr>
          <a:lstStyle/>
          <a:p>
            <a:pPr algn="l"/>
            <a:r>
              <a:rPr sz="1400" b="1" i="0">
                <a:solidFill>
                  <a:srgbClr val="141826"/>
                </a:solidFill>
                <a:latin typeface="Segoe UI"/>
              </a:rPr>
              <a:t>Обратная связь от индустрии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806440"/>
            <a:ext cx="941832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1400" b="0" i="1">
                <a:solidFill>
                  <a:srgbClr val="5B647A"/>
                </a:solidFill>
                <a:latin typeface="Segoe UI"/>
              </a:rPr>
              <a:t>Предложение для обсуждения — не готовое решение.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75720" y="6473952"/>
            <a:ext cx="54864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/>
            <a:r>
              <a:rPr sz="1000" b="0" i="0">
                <a:solidFill>
                  <a:srgbClr val="5B647A"/>
                </a:solidFill>
                <a:latin typeface="Segoe UI"/>
              </a:rPr>
              <a:t>06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731520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300" b="1" i="0">
                <a:solidFill>
                  <a:srgbClr val="1E9E86"/>
                </a:solidFill>
                <a:latin typeface="Segoe UI Semibold"/>
              </a:rPr>
              <a:t>ОБСУЖДАЕМ ВМЕСТЕ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05840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2800" b="1" i="0">
                <a:solidFill>
                  <a:srgbClr val="141826"/>
                </a:solidFill>
                <a:latin typeface="Segoe UI Semibold"/>
              </a:rPr>
              <a:t>Роль Регины (для обсуждения)</a:t>
            </a:r>
          </a:p>
        </p:txBody>
      </p:sp>
      <p:sp>
        <p:nvSpPr>
          <p:cNvPr id="4" name="Oval 3"/>
          <p:cNvSpPr/>
          <p:nvPr/>
        </p:nvSpPr>
        <p:spPr>
          <a:xfrm>
            <a:off x="3337560" y="3063240"/>
            <a:ext cx="1005840" cy="1005840"/>
          </a:xfrm>
          <a:prstGeom prst="ellipse">
            <a:avLst/>
          </a:prstGeom>
          <a:solidFill>
            <a:srgbClr val="14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34640" y="4233672"/>
            <a:ext cx="201168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1100" b="1" i="0">
                <a:solidFill>
                  <a:srgbClr val="141826"/>
                </a:solidFill>
                <a:latin typeface="Segoe UI"/>
              </a:rPr>
              <a:t>Регина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4389120" y="2880360"/>
            <a:ext cx="2423160" cy="685800"/>
          </a:xfrm>
          <a:prstGeom prst="line">
            <a:avLst/>
          </a:prstGeom>
          <a:ln w="15240">
            <a:solidFill>
              <a:srgbClr val="D3D8E2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949440" y="2651760"/>
            <a:ext cx="4023360" cy="502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3D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>
            <a:noAutofit/>
          </a:bodyPr>
          <a:lstStyle/>
          <a:p>
            <a:pPr algn="l"/>
            <a:r>
              <a:rPr sz="1400" b="1" i="0">
                <a:solidFill>
                  <a:srgbClr val="141826"/>
                </a:solidFill>
                <a:latin typeface="Segoe UI"/>
              </a:rPr>
              <a:t>Строит первое сообщество PIOS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389120" y="3566160"/>
            <a:ext cx="2423160" cy="182879"/>
          </a:xfrm>
          <a:prstGeom prst="line">
            <a:avLst/>
          </a:prstGeom>
          <a:ln w="15240">
            <a:solidFill>
              <a:srgbClr val="D3D8E2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949440" y="3520439"/>
            <a:ext cx="4023360" cy="502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3D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>
            <a:noAutofit/>
          </a:bodyPr>
          <a:lstStyle/>
          <a:p>
            <a:pPr algn="l"/>
            <a:r>
              <a:rPr sz="1400" b="1" i="0">
                <a:solidFill>
                  <a:srgbClr val="141826"/>
                </a:solidFill>
                <a:latin typeface="Segoe UI"/>
              </a:rPr>
              <a:t>Организация процесса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389120" y="3566160"/>
            <a:ext cx="2423160" cy="1051560"/>
          </a:xfrm>
          <a:prstGeom prst="line">
            <a:avLst/>
          </a:prstGeom>
          <a:ln w="15240">
            <a:solidFill>
              <a:srgbClr val="D3D8E2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0" y="4389120"/>
            <a:ext cx="4023360" cy="502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3D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>
            <a:noAutofit/>
          </a:bodyPr>
          <a:lstStyle/>
          <a:p>
            <a:pPr algn="l"/>
            <a:r>
              <a:rPr sz="1400" b="1" i="0">
                <a:solidFill>
                  <a:srgbClr val="141826"/>
                </a:solidFill>
                <a:latin typeface="Segoe UI"/>
              </a:rPr>
              <a:t>Наблюдение и обратная связь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806440"/>
            <a:ext cx="941832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1400" b="0" i="1">
                <a:solidFill>
                  <a:srgbClr val="5B647A"/>
                </a:solidFill>
                <a:latin typeface="Segoe UI"/>
              </a:rPr>
              <a:t>Предложение для обсуждения — не готовое решение.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75720" y="6473952"/>
            <a:ext cx="54864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/>
            <a:r>
              <a:rPr sz="1000" b="0" i="0">
                <a:solidFill>
                  <a:srgbClr val="5B647A"/>
                </a:solidFill>
                <a:latin typeface="Segoe UI"/>
              </a:rPr>
              <a:t>07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731520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300" b="1" i="0">
                <a:solidFill>
                  <a:srgbClr val="1E9E86"/>
                </a:solidFill>
                <a:latin typeface="Segoe UI Semibold"/>
              </a:rPr>
              <a:t>ПЕРВЫЕ УЧАСТНИКИ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05840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3000" b="1" i="0">
                <a:solidFill>
                  <a:srgbClr val="141826"/>
                </a:solidFill>
                <a:latin typeface="Segoe UI Semibold"/>
              </a:rPr>
              <a:t>Три первых водителя</a:t>
            </a:r>
          </a:p>
        </p:txBody>
      </p:sp>
      <p:sp>
        <p:nvSpPr>
          <p:cNvPr id="4" name="Rectangle 3"/>
          <p:cNvSpPr/>
          <p:nvPr/>
        </p:nvSpPr>
        <p:spPr>
          <a:xfrm>
            <a:off x="1188720" y="2286000"/>
            <a:ext cx="3063240" cy="3749039"/>
          </a:xfrm>
          <a:prstGeom prst="rect">
            <a:avLst/>
          </a:prstGeom>
          <a:solidFill>
            <a:srgbClr val="FFFFFF"/>
          </a:solidFill>
          <a:ln>
            <a:solidFill>
              <a:srgbClr val="D3D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17320" y="2514600"/>
            <a:ext cx="260604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800" b="1" i="0">
                <a:solidFill>
                  <a:srgbClr val="141826"/>
                </a:solidFill>
                <a:latin typeface="Segoe UI"/>
              </a:rPr>
              <a:t>Driver 1</a:t>
            </a:r>
          </a:p>
        </p:txBody>
      </p:sp>
      <p:sp>
        <p:nvSpPr>
          <p:cNvPr id="6" name="Rectangle 5"/>
          <p:cNvSpPr/>
          <p:nvPr/>
        </p:nvSpPr>
        <p:spPr>
          <a:xfrm>
            <a:off x="1463040" y="3200400"/>
            <a:ext cx="146304" cy="146304"/>
          </a:xfrm>
          <a:prstGeom prst="rect">
            <a:avLst/>
          </a:prstGeom>
          <a:noFill/>
          <a:ln w="12700">
            <a:solidFill>
              <a:srgbClr val="8A93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19072" y="3118104"/>
            <a:ext cx="224028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150" b="0" i="0">
                <a:solidFill>
                  <a:srgbClr val="5B647A"/>
                </a:solidFill>
                <a:latin typeface="Segoe UI"/>
              </a:rPr>
              <a:t>Создан в системе</a:t>
            </a:r>
          </a:p>
        </p:txBody>
      </p:sp>
      <p:sp>
        <p:nvSpPr>
          <p:cNvPr id="8" name="Rectangle 7"/>
          <p:cNvSpPr/>
          <p:nvPr/>
        </p:nvSpPr>
        <p:spPr>
          <a:xfrm>
            <a:off x="1463040" y="3675887"/>
            <a:ext cx="146304" cy="146304"/>
          </a:xfrm>
          <a:prstGeom prst="rect">
            <a:avLst/>
          </a:prstGeom>
          <a:noFill/>
          <a:ln w="12700">
            <a:solidFill>
              <a:srgbClr val="8A93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19072" y="3593591"/>
            <a:ext cx="224028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150" b="0" i="0">
                <a:solidFill>
                  <a:srgbClr val="5B647A"/>
                </a:solidFill>
                <a:latin typeface="Segoe UI"/>
              </a:rPr>
              <a:t>Есть личная ссылка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63040" y="4151375"/>
            <a:ext cx="146304" cy="146304"/>
          </a:xfrm>
          <a:prstGeom prst="rect">
            <a:avLst/>
          </a:prstGeom>
          <a:noFill/>
          <a:ln w="12700">
            <a:solidFill>
              <a:srgbClr val="8A93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19072" y="4069079"/>
            <a:ext cx="224028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150" b="0" i="0">
                <a:solidFill>
                  <a:srgbClr val="5B647A"/>
                </a:solidFill>
                <a:latin typeface="Segoe UI"/>
              </a:rPr>
              <a:t>Телефон проверен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63040" y="4626863"/>
            <a:ext cx="146304" cy="146304"/>
          </a:xfrm>
          <a:prstGeom prst="rect">
            <a:avLst/>
          </a:prstGeom>
          <a:noFill/>
          <a:ln w="12700">
            <a:solidFill>
              <a:srgbClr val="8A93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19072" y="4544567"/>
            <a:ext cx="224028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150" b="0" i="0">
                <a:solidFill>
                  <a:srgbClr val="5B647A"/>
                </a:solidFill>
                <a:latin typeface="Segoe UI"/>
              </a:rPr>
              <a:t>Первый заказ сделан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26280" y="2286000"/>
            <a:ext cx="3063240" cy="3749039"/>
          </a:xfrm>
          <a:prstGeom prst="rect">
            <a:avLst/>
          </a:prstGeom>
          <a:solidFill>
            <a:srgbClr val="FFFFFF"/>
          </a:solidFill>
          <a:ln>
            <a:solidFill>
              <a:srgbClr val="D3D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0" y="2514600"/>
            <a:ext cx="260604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800" b="1" i="0">
                <a:solidFill>
                  <a:srgbClr val="141826"/>
                </a:solidFill>
                <a:latin typeface="Segoe UI"/>
              </a:rPr>
              <a:t>Driver 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00600" y="3200400"/>
            <a:ext cx="146304" cy="146304"/>
          </a:xfrm>
          <a:prstGeom prst="rect">
            <a:avLst/>
          </a:prstGeom>
          <a:noFill/>
          <a:ln w="12700">
            <a:solidFill>
              <a:srgbClr val="8A93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56632" y="3118104"/>
            <a:ext cx="224028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150" b="0" i="0">
                <a:solidFill>
                  <a:srgbClr val="5B647A"/>
                </a:solidFill>
                <a:latin typeface="Segoe UI"/>
              </a:rPr>
              <a:t>Создан в системе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00600" y="3675887"/>
            <a:ext cx="146304" cy="146304"/>
          </a:xfrm>
          <a:prstGeom prst="rect">
            <a:avLst/>
          </a:prstGeom>
          <a:noFill/>
          <a:ln w="12700">
            <a:solidFill>
              <a:srgbClr val="8A93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56632" y="3593591"/>
            <a:ext cx="224028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150" b="0" i="0">
                <a:solidFill>
                  <a:srgbClr val="5B647A"/>
                </a:solidFill>
                <a:latin typeface="Segoe UI"/>
              </a:rPr>
              <a:t>Есть личная ссылка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00600" y="4151375"/>
            <a:ext cx="146304" cy="146304"/>
          </a:xfrm>
          <a:prstGeom prst="rect">
            <a:avLst/>
          </a:prstGeom>
          <a:noFill/>
          <a:ln w="12700">
            <a:solidFill>
              <a:srgbClr val="8A93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56632" y="4069079"/>
            <a:ext cx="224028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150" b="0" i="0">
                <a:solidFill>
                  <a:srgbClr val="5B647A"/>
                </a:solidFill>
                <a:latin typeface="Segoe UI"/>
              </a:rPr>
              <a:t>Телефон проверен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00600" y="4626863"/>
            <a:ext cx="146304" cy="146304"/>
          </a:xfrm>
          <a:prstGeom prst="rect">
            <a:avLst/>
          </a:prstGeom>
          <a:noFill/>
          <a:ln w="12700">
            <a:solidFill>
              <a:srgbClr val="8A93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56632" y="4544567"/>
            <a:ext cx="224028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150" b="0" i="0">
                <a:solidFill>
                  <a:srgbClr val="5B647A"/>
                </a:solidFill>
                <a:latin typeface="Segoe UI"/>
              </a:rPr>
              <a:t>Первый заказ сделан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63840" y="2286000"/>
            <a:ext cx="3063240" cy="3749039"/>
          </a:xfrm>
          <a:prstGeom prst="rect">
            <a:avLst/>
          </a:prstGeom>
          <a:solidFill>
            <a:srgbClr val="FFFFFF"/>
          </a:solidFill>
          <a:ln>
            <a:solidFill>
              <a:srgbClr val="D3D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92440" y="2514600"/>
            <a:ext cx="260604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800" b="1" i="0">
                <a:solidFill>
                  <a:srgbClr val="141826"/>
                </a:solidFill>
                <a:latin typeface="Segoe UI"/>
              </a:rPr>
              <a:t>Driver 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38160" y="3200400"/>
            <a:ext cx="146304" cy="146304"/>
          </a:xfrm>
          <a:prstGeom prst="rect">
            <a:avLst/>
          </a:prstGeom>
          <a:noFill/>
          <a:ln w="12700">
            <a:solidFill>
              <a:srgbClr val="8A93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94192" y="3118104"/>
            <a:ext cx="224028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150" b="0" i="0">
                <a:solidFill>
                  <a:srgbClr val="5B647A"/>
                </a:solidFill>
                <a:latin typeface="Segoe UI"/>
              </a:rPr>
              <a:t>Создан в системе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38160" y="3675887"/>
            <a:ext cx="146304" cy="146304"/>
          </a:xfrm>
          <a:prstGeom prst="rect">
            <a:avLst/>
          </a:prstGeom>
          <a:noFill/>
          <a:ln w="12700">
            <a:solidFill>
              <a:srgbClr val="8A93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94192" y="3593591"/>
            <a:ext cx="224028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150" b="0" i="0">
                <a:solidFill>
                  <a:srgbClr val="5B647A"/>
                </a:solidFill>
                <a:latin typeface="Segoe UI"/>
              </a:rPr>
              <a:t>Есть личная ссылка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38160" y="4151375"/>
            <a:ext cx="146304" cy="146304"/>
          </a:xfrm>
          <a:prstGeom prst="rect">
            <a:avLst/>
          </a:prstGeom>
          <a:noFill/>
          <a:ln w="12700">
            <a:solidFill>
              <a:srgbClr val="8A93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94192" y="4069079"/>
            <a:ext cx="224028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150" b="0" i="0">
                <a:solidFill>
                  <a:srgbClr val="5B647A"/>
                </a:solidFill>
                <a:latin typeface="Segoe UI"/>
              </a:rPr>
              <a:t>Телефон проверен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38160" y="4626863"/>
            <a:ext cx="146304" cy="146304"/>
          </a:xfrm>
          <a:prstGeom prst="rect">
            <a:avLst/>
          </a:prstGeom>
          <a:noFill/>
          <a:ln w="12700">
            <a:solidFill>
              <a:srgbClr val="8A93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94192" y="4544567"/>
            <a:ext cx="224028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150" b="0" i="0">
                <a:solidFill>
                  <a:srgbClr val="5B647A"/>
                </a:solidFill>
                <a:latin typeface="Segoe UI"/>
              </a:rPr>
              <a:t>Первый заказ сделан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75720" y="6473952"/>
            <a:ext cx="54864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/>
            <a:r>
              <a:rPr sz="1000" b="0" i="0">
                <a:solidFill>
                  <a:srgbClr val="5B647A"/>
                </a:solidFill>
                <a:latin typeface="Segoe UI"/>
              </a:rPr>
              <a:t>08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731520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300" b="1" i="0">
                <a:solidFill>
                  <a:srgbClr val="1E9E86"/>
                </a:solidFill>
                <a:latin typeface="Segoe UI Semibold"/>
              </a:rPr>
              <a:t>ОДИН ЦИКЛ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05840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2800" b="1" i="0">
                <a:solidFill>
                  <a:srgbClr val="141826"/>
                </a:solidFill>
                <a:latin typeface="Segoe UI Semibold"/>
              </a:rPr>
              <a:t>Как проходит одна поездка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463040" y="3657600"/>
            <a:ext cx="1847088" cy="0"/>
          </a:xfrm>
          <a:prstGeom prst="line">
            <a:avLst/>
          </a:prstGeom>
          <a:ln w="17780">
            <a:solidFill>
              <a:srgbClr val="D3D8E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310128" y="3657600"/>
            <a:ext cx="1847088" cy="0"/>
          </a:xfrm>
          <a:prstGeom prst="line">
            <a:avLst/>
          </a:prstGeom>
          <a:ln w="17780">
            <a:solidFill>
              <a:srgbClr val="D3D8E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157216" y="3657600"/>
            <a:ext cx="1847088" cy="0"/>
          </a:xfrm>
          <a:prstGeom prst="line">
            <a:avLst/>
          </a:prstGeom>
          <a:ln w="17780">
            <a:solidFill>
              <a:srgbClr val="D3D8E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004304" y="3657600"/>
            <a:ext cx="1847088" cy="0"/>
          </a:xfrm>
          <a:prstGeom prst="line">
            <a:avLst/>
          </a:prstGeom>
          <a:ln w="17780">
            <a:solidFill>
              <a:srgbClr val="D3D8E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851392" y="3657600"/>
            <a:ext cx="1847088" cy="0"/>
          </a:xfrm>
          <a:prstGeom prst="line">
            <a:avLst/>
          </a:prstGeom>
          <a:ln w="17780">
            <a:solidFill>
              <a:srgbClr val="D3D8E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1316736" y="3511296"/>
            <a:ext cx="292608" cy="292608"/>
          </a:xfrm>
          <a:prstGeom prst="ellipse">
            <a:avLst/>
          </a:prstGeom>
          <a:solidFill>
            <a:srgbClr val="2BD6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25880" y="3063240"/>
            <a:ext cx="54864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100" b="1" i="0">
                <a:solidFill>
                  <a:srgbClr val="5B647A"/>
                </a:solidFill>
                <a:latin typeface="Segoe UI"/>
              </a:rPr>
              <a:t>09:10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977639"/>
            <a:ext cx="1737360" cy="6858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1150" b="1" i="0">
                <a:solidFill>
                  <a:srgbClr val="141826"/>
                </a:solidFill>
                <a:latin typeface="Segoe UI"/>
              </a:rPr>
              <a:t>Открывает ссылку</a:t>
            </a:r>
          </a:p>
        </p:txBody>
      </p:sp>
      <p:sp>
        <p:nvSpPr>
          <p:cNvPr id="12" name="Oval 11"/>
          <p:cNvSpPr/>
          <p:nvPr/>
        </p:nvSpPr>
        <p:spPr>
          <a:xfrm>
            <a:off x="3163824" y="3511296"/>
            <a:ext cx="292608" cy="292608"/>
          </a:xfrm>
          <a:prstGeom prst="ellipse">
            <a:avLst/>
          </a:prstGeom>
          <a:solidFill>
            <a:srgbClr val="2BD6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72968" y="3063240"/>
            <a:ext cx="54864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100" b="1" i="0">
                <a:solidFill>
                  <a:srgbClr val="5B647A"/>
                </a:solidFill>
                <a:latin typeface="Segoe UI"/>
              </a:rPr>
              <a:t>09:30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41448" y="3977639"/>
            <a:ext cx="1737360" cy="6858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1150" b="1" i="0">
                <a:solidFill>
                  <a:srgbClr val="141826"/>
                </a:solidFill>
                <a:latin typeface="Segoe UI"/>
              </a:rPr>
              <a:t>Имя, заказ, destination</a:t>
            </a:r>
          </a:p>
        </p:txBody>
      </p:sp>
      <p:sp>
        <p:nvSpPr>
          <p:cNvPr id="15" name="Oval 14"/>
          <p:cNvSpPr/>
          <p:nvPr/>
        </p:nvSpPr>
        <p:spPr>
          <a:xfrm>
            <a:off x="5010912" y="3511296"/>
            <a:ext cx="292608" cy="292608"/>
          </a:xfrm>
          <a:prstGeom prst="ellipse">
            <a:avLst/>
          </a:prstGeom>
          <a:solidFill>
            <a:srgbClr val="2BD6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0056" y="3063240"/>
            <a:ext cx="54864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100" b="1" i="0">
                <a:solidFill>
                  <a:srgbClr val="5B647A"/>
                </a:solidFill>
                <a:latin typeface="Segoe UI"/>
              </a:rPr>
              <a:t>09:31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88536" y="3977639"/>
            <a:ext cx="1737360" cy="6858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1150" b="1" i="0">
                <a:solidFill>
                  <a:srgbClr val="141826"/>
                </a:solidFill>
                <a:latin typeface="Segoe UI"/>
              </a:rPr>
              <a:t>Координатор видит заказ</a:t>
            </a:r>
          </a:p>
        </p:txBody>
      </p:sp>
      <p:sp>
        <p:nvSpPr>
          <p:cNvPr id="18" name="Oval 17"/>
          <p:cNvSpPr/>
          <p:nvPr/>
        </p:nvSpPr>
        <p:spPr>
          <a:xfrm>
            <a:off x="6858000" y="3511296"/>
            <a:ext cx="292608" cy="292608"/>
          </a:xfrm>
          <a:prstGeom prst="ellipse">
            <a:avLst/>
          </a:prstGeom>
          <a:solidFill>
            <a:srgbClr val="2BD6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67144" y="3063240"/>
            <a:ext cx="54864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100" b="1" i="0">
                <a:solidFill>
                  <a:srgbClr val="5B647A"/>
                </a:solidFill>
                <a:latin typeface="Segoe UI"/>
              </a:rPr>
              <a:t>09:32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35624" y="3977639"/>
            <a:ext cx="1737360" cy="6858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1150" b="1" i="0">
                <a:solidFill>
                  <a:srgbClr val="141826"/>
                </a:solidFill>
                <a:latin typeface="Segoe UI"/>
              </a:rPr>
              <a:t>Предложение водителю</a:t>
            </a:r>
          </a:p>
        </p:txBody>
      </p:sp>
      <p:sp>
        <p:nvSpPr>
          <p:cNvPr id="21" name="Oval 20"/>
          <p:cNvSpPr/>
          <p:nvPr/>
        </p:nvSpPr>
        <p:spPr>
          <a:xfrm>
            <a:off x="8705088" y="3511296"/>
            <a:ext cx="292608" cy="292608"/>
          </a:xfrm>
          <a:prstGeom prst="ellipse">
            <a:avLst/>
          </a:prstGeom>
          <a:solidFill>
            <a:srgbClr val="2BD6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14232" y="3063240"/>
            <a:ext cx="54864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100" b="1" i="0">
                <a:solidFill>
                  <a:srgbClr val="5B647A"/>
                </a:solidFill>
                <a:latin typeface="Segoe UI"/>
              </a:rPr>
              <a:t>09:33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82712" y="3977639"/>
            <a:ext cx="1737360" cy="6858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1150" b="1" i="0">
                <a:solidFill>
                  <a:srgbClr val="141826"/>
                </a:solidFill>
                <a:latin typeface="Segoe UI"/>
              </a:rPr>
              <a:t>Принятие / отказ</a:t>
            </a:r>
          </a:p>
        </p:txBody>
      </p:sp>
      <p:sp>
        <p:nvSpPr>
          <p:cNvPr id="24" name="Oval 23"/>
          <p:cNvSpPr/>
          <p:nvPr/>
        </p:nvSpPr>
        <p:spPr>
          <a:xfrm>
            <a:off x="10552176" y="3511296"/>
            <a:ext cx="292608" cy="292608"/>
          </a:xfrm>
          <a:prstGeom prst="ellipse">
            <a:avLst/>
          </a:prstGeom>
          <a:solidFill>
            <a:srgbClr val="2BD6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61319" y="3063240"/>
            <a:ext cx="54864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100" b="1" i="0">
                <a:solidFill>
                  <a:srgbClr val="5B647A"/>
                </a:solidFill>
                <a:latin typeface="Segoe UI"/>
              </a:rPr>
              <a:t>09:34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29800" y="3977639"/>
            <a:ext cx="1737360" cy="6858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1150" b="1" i="0">
                <a:solidFill>
                  <a:srgbClr val="141826"/>
                </a:solidFill>
                <a:latin typeface="Segoe UI"/>
              </a:rPr>
              <a:t>Результат зафиксирован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75720" y="6473952"/>
            <a:ext cx="54864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/>
            <a:r>
              <a:rPr sz="1000" b="0" i="0">
                <a:solidFill>
                  <a:srgbClr val="5B647A"/>
                </a:solidFill>
                <a:latin typeface="Segoe UI"/>
              </a:rPr>
              <a:t>09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731520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300" b="1" i="0">
                <a:solidFill>
                  <a:srgbClr val="1E9E86"/>
                </a:solidFill>
                <a:latin typeface="Segoe UI Semibold"/>
              </a:rPr>
              <a:t>ОПЕРАЦИОННАЯ РОЛЬ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05840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3000" b="1" i="0">
                <a:solidFill>
                  <a:srgbClr val="141826"/>
                </a:solidFill>
                <a:latin typeface="Segoe UI Semibold"/>
              </a:rPr>
              <a:t>Что делает координатор</a:t>
            </a:r>
          </a:p>
        </p:txBody>
      </p:sp>
      <p:sp>
        <p:nvSpPr>
          <p:cNvPr id="4" name="Oval 3"/>
          <p:cNvSpPr/>
          <p:nvPr/>
        </p:nvSpPr>
        <p:spPr>
          <a:xfrm>
            <a:off x="1609344" y="2496312"/>
            <a:ext cx="164592" cy="164592"/>
          </a:xfrm>
          <a:prstGeom prst="ellipse">
            <a:avLst/>
          </a:prstGeom>
          <a:solidFill>
            <a:srgbClr val="2BD6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65960" y="2331720"/>
            <a:ext cx="8229600" cy="4572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700" b="0" i="0">
                <a:solidFill>
                  <a:srgbClr val="141826"/>
                </a:solidFill>
                <a:latin typeface="Segoe UI"/>
              </a:rPr>
              <a:t>Добавляет водителя в систему</a:t>
            </a:r>
          </a:p>
        </p:txBody>
      </p:sp>
      <p:sp>
        <p:nvSpPr>
          <p:cNvPr id="6" name="Oval 5"/>
          <p:cNvSpPr/>
          <p:nvPr/>
        </p:nvSpPr>
        <p:spPr>
          <a:xfrm>
            <a:off x="1609344" y="3063240"/>
            <a:ext cx="164592" cy="164592"/>
          </a:xfrm>
          <a:prstGeom prst="ellipse">
            <a:avLst/>
          </a:prstGeom>
          <a:solidFill>
            <a:srgbClr val="2BD6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65960" y="2898648"/>
            <a:ext cx="8229600" cy="4572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700" b="0" i="0">
                <a:solidFill>
                  <a:srgbClr val="141826"/>
                </a:solidFill>
                <a:latin typeface="Segoe UI"/>
              </a:rPr>
              <a:t>Видит новый заказ</a:t>
            </a:r>
          </a:p>
        </p:txBody>
      </p:sp>
      <p:sp>
        <p:nvSpPr>
          <p:cNvPr id="8" name="Oval 7"/>
          <p:cNvSpPr/>
          <p:nvPr/>
        </p:nvSpPr>
        <p:spPr>
          <a:xfrm>
            <a:off x="1609344" y="3630168"/>
            <a:ext cx="164592" cy="164592"/>
          </a:xfrm>
          <a:prstGeom prst="ellipse">
            <a:avLst/>
          </a:prstGeom>
          <a:solidFill>
            <a:srgbClr val="2BD6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65960" y="3465576"/>
            <a:ext cx="8229600" cy="4572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700" b="0" i="0">
                <a:solidFill>
                  <a:srgbClr val="141826"/>
                </a:solidFill>
                <a:latin typeface="Segoe UI"/>
              </a:rPr>
              <a:t>Отправляет предложение</a:t>
            </a:r>
          </a:p>
        </p:txBody>
      </p:sp>
      <p:sp>
        <p:nvSpPr>
          <p:cNvPr id="10" name="Oval 9"/>
          <p:cNvSpPr/>
          <p:nvPr/>
        </p:nvSpPr>
        <p:spPr>
          <a:xfrm>
            <a:off x="1609344" y="4197096"/>
            <a:ext cx="164592" cy="164592"/>
          </a:xfrm>
          <a:prstGeom prst="ellipse">
            <a:avLst/>
          </a:prstGeom>
          <a:solidFill>
            <a:srgbClr val="2BD6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65960" y="4032504"/>
            <a:ext cx="8229600" cy="4572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700" b="0" i="0">
                <a:solidFill>
                  <a:srgbClr val="141826"/>
                </a:solidFill>
                <a:latin typeface="Segoe UI"/>
              </a:rPr>
              <a:t>Проверяет статус</a:t>
            </a:r>
          </a:p>
        </p:txBody>
      </p:sp>
      <p:sp>
        <p:nvSpPr>
          <p:cNvPr id="12" name="Oval 11"/>
          <p:cNvSpPr/>
          <p:nvPr/>
        </p:nvSpPr>
        <p:spPr>
          <a:xfrm>
            <a:off x="1609344" y="4764024"/>
            <a:ext cx="164592" cy="164592"/>
          </a:xfrm>
          <a:prstGeom prst="ellipse">
            <a:avLst/>
          </a:prstGeom>
          <a:solidFill>
            <a:srgbClr val="2BD6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65960" y="4599432"/>
            <a:ext cx="8229600" cy="4572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700" b="0" i="0">
                <a:solidFill>
                  <a:srgbClr val="141826"/>
                </a:solidFill>
                <a:latin typeface="Segoe UI"/>
              </a:rPr>
              <a:t>Фиксирует результат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75720" y="6473952"/>
            <a:ext cx="54864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/>
            <a:r>
              <a:rPr sz="1000" b="0" i="0">
                <a:solidFill>
                  <a:srgbClr val="5B647A"/>
                </a:solidFill>
                <a:latin typeface="Segoe UI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731520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300" b="1" i="0">
                <a:solidFill>
                  <a:srgbClr val="1E9E86"/>
                </a:solidFill>
                <a:latin typeface="Segoe UI Semibold"/>
              </a:rPr>
              <a:t>ОПЕРАЦИОННАЯ РОЛЬ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05840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3000" b="1" i="0">
                <a:solidFill>
                  <a:srgbClr val="141826"/>
                </a:solidFill>
                <a:latin typeface="Segoe UI Semibold"/>
              </a:rPr>
              <a:t>Что делает водитель</a:t>
            </a:r>
          </a:p>
        </p:txBody>
      </p:sp>
      <p:sp>
        <p:nvSpPr>
          <p:cNvPr id="4" name="Oval 3"/>
          <p:cNvSpPr/>
          <p:nvPr/>
        </p:nvSpPr>
        <p:spPr>
          <a:xfrm>
            <a:off x="1609344" y="2496312"/>
            <a:ext cx="164592" cy="164592"/>
          </a:xfrm>
          <a:prstGeom prst="ellipse">
            <a:avLst/>
          </a:prstGeom>
          <a:solidFill>
            <a:srgbClr val="2BD6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65960" y="2331720"/>
            <a:ext cx="8229600" cy="4572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700" b="0" i="0">
                <a:solidFill>
                  <a:srgbClr val="141826"/>
                </a:solidFill>
                <a:latin typeface="Segoe UI"/>
              </a:rPr>
              <a:t>Получает личную ссылку</a:t>
            </a:r>
          </a:p>
        </p:txBody>
      </p:sp>
      <p:sp>
        <p:nvSpPr>
          <p:cNvPr id="6" name="Oval 5"/>
          <p:cNvSpPr/>
          <p:nvPr/>
        </p:nvSpPr>
        <p:spPr>
          <a:xfrm>
            <a:off x="1609344" y="3063240"/>
            <a:ext cx="164592" cy="164592"/>
          </a:xfrm>
          <a:prstGeom prst="ellipse">
            <a:avLst/>
          </a:prstGeom>
          <a:solidFill>
            <a:srgbClr val="2BD6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65960" y="2898648"/>
            <a:ext cx="8229600" cy="4572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700" b="0" i="0">
                <a:solidFill>
                  <a:srgbClr val="141826"/>
                </a:solidFill>
                <a:latin typeface="Segoe UI"/>
              </a:rPr>
              <a:t>Приглашает своего клиента</a:t>
            </a:r>
          </a:p>
        </p:txBody>
      </p:sp>
      <p:sp>
        <p:nvSpPr>
          <p:cNvPr id="8" name="Oval 7"/>
          <p:cNvSpPr/>
          <p:nvPr/>
        </p:nvSpPr>
        <p:spPr>
          <a:xfrm>
            <a:off x="1609344" y="3630168"/>
            <a:ext cx="164592" cy="164592"/>
          </a:xfrm>
          <a:prstGeom prst="ellipse">
            <a:avLst/>
          </a:prstGeom>
          <a:solidFill>
            <a:srgbClr val="2BD6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65960" y="3465576"/>
            <a:ext cx="8229600" cy="4572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700" b="0" i="0">
                <a:solidFill>
                  <a:srgbClr val="141826"/>
                </a:solidFill>
                <a:latin typeface="Segoe UI"/>
              </a:rPr>
              <a:t>Видит предложение</a:t>
            </a:r>
          </a:p>
        </p:txBody>
      </p:sp>
      <p:sp>
        <p:nvSpPr>
          <p:cNvPr id="10" name="Oval 9"/>
          <p:cNvSpPr/>
          <p:nvPr/>
        </p:nvSpPr>
        <p:spPr>
          <a:xfrm>
            <a:off x="1609344" y="4197096"/>
            <a:ext cx="164592" cy="164592"/>
          </a:xfrm>
          <a:prstGeom prst="ellipse">
            <a:avLst/>
          </a:prstGeom>
          <a:solidFill>
            <a:srgbClr val="2BD6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65960" y="4032504"/>
            <a:ext cx="8229600" cy="4572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700" b="0" i="0">
                <a:solidFill>
                  <a:srgbClr val="141826"/>
                </a:solidFill>
                <a:latin typeface="Segoe UI"/>
              </a:rPr>
              <a:t>Принимает или отклоняет</a:t>
            </a:r>
          </a:p>
        </p:txBody>
      </p:sp>
      <p:sp>
        <p:nvSpPr>
          <p:cNvPr id="12" name="Oval 11"/>
          <p:cNvSpPr/>
          <p:nvPr/>
        </p:nvSpPr>
        <p:spPr>
          <a:xfrm>
            <a:off x="1609344" y="4764024"/>
            <a:ext cx="164592" cy="164592"/>
          </a:xfrm>
          <a:prstGeom prst="ellipse">
            <a:avLst/>
          </a:prstGeom>
          <a:solidFill>
            <a:srgbClr val="2BD6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65960" y="4599432"/>
            <a:ext cx="8229600" cy="4572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700" b="0" i="0">
                <a:solidFill>
                  <a:srgbClr val="141826"/>
                </a:solidFill>
                <a:latin typeface="Segoe UI"/>
              </a:rPr>
              <a:t>Проводит поездку напрямую с клиентом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75720" y="6473952"/>
            <a:ext cx="54864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/>
            <a:r>
              <a:rPr sz="1000" b="0" i="0">
                <a:solidFill>
                  <a:srgbClr val="5B647A"/>
                </a:solidFill>
                <a:latin typeface="Segoe UI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731520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300" b="1" i="0">
                <a:solidFill>
                  <a:srgbClr val="1E9E86"/>
                </a:solidFill>
                <a:latin typeface="Segoe UI Semibold"/>
              </a:rPr>
              <a:t>НЕ VANITY-МЕТРИКИ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05840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3000" b="1" i="0">
                <a:solidFill>
                  <a:srgbClr val="141826"/>
                </a:solidFill>
                <a:latin typeface="Segoe UI Semibold"/>
              </a:rPr>
              <a:t>Что наблюдаем</a:t>
            </a:r>
          </a:p>
        </p:txBody>
      </p:sp>
      <p:sp>
        <p:nvSpPr>
          <p:cNvPr id="4" name="Oval 3"/>
          <p:cNvSpPr/>
          <p:nvPr/>
        </p:nvSpPr>
        <p:spPr>
          <a:xfrm>
            <a:off x="1764792" y="2724912"/>
            <a:ext cx="585216" cy="585216"/>
          </a:xfrm>
          <a:prstGeom prst="ellipse">
            <a:avLst/>
          </a:prstGeom>
          <a:solidFill>
            <a:srgbClr val="2BD6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3611880"/>
            <a:ext cx="1920240" cy="11887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50" b="1" i="0">
                <a:solidFill>
                  <a:srgbClr val="141826"/>
                </a:solidFill>
                <a:latin typeface="Segoe UI"/>
              </a:rPr>
              <a:t>Смог ли человек пройти весь путь</a:t>
            </a:r>
          </a:p>
        </p:txBody>
      </p:sp>
      <p:sp>
        <p:nvSpPr>
          <p:cNvPr id="6" name="Oval 5"/>
          <p:cNvSpPr/>
          <p:nvPr/>
        </p:nvSpPr>
        <p:spPr>
          <a:xfrm>
            <a:off x="3730751" y="2724912"/>
            <a:ext cx="585216" cy="585216"/>
          </a:xfrm>
          <a:prstGeom prst="ellipse">
            <a:avLst/>
          </a:prstGeom>
          <a:solidFill>
            <a:srgbClr val="2BD6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46120" y="3611880"/>
            <a:ext cx="1920240" cy="11887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50" b="1" i="0">
                <a:solidFill>
                  <a:srgbClr val="141826"/>
                </a:solidFill>
                <a:latin typeface="Segoe UI"/>
              </a:rPr>
              <a:t>Где потребовалась помощь</a:t>
            </a:r>
          </a:p>
        </p:txBody>
      </p:sp>
      <p:sp>
        <p:nvSpPr>
          <p:cNvPr id="8" name="Oval 7"/>
          <p:cNvSpPr/>
          <p:nvPr/>
        </p:nvSpPr>
        <p:spPr>
          <a:xfrm>
            <a:off x="5879592" y="2724912"/>
            <a:ext cx="585216" cy="585216"/>
          </a:xfrm>
          <a:prstGeom prst="ellipse">
            <a:avLst/>
          </a:prstGeom>
          <a:solidFill>
            <a:srgbClr val="2BD6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94960" y="3611880"/>
            <a:ext cx="1920240" cy="11887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50" b="1" i="0">
                <a:solidFill>
                  <a:srgbClr val="141826"/>
                </a:solidFill>
                <a:latin typeface="Segoe UI"/>
              </a:rPr>
              <a:t>Что раздражало</a:t>
            </a:r>
          </a:p>
        </p:txBody>
      </p:sp>
      <p:sp>
        <p:nvSpPr>
          <p:cNvPr id="10" name="Oval 9"/>
          <p:cNvSpPr/>
          <p:nvPr/>
        </p:nvSpPr>
        <p:spPr>
          <a:xfrm>
            <a:off x="7936992" y="2724912"/>
            <a:ext cx="585216" cy="585216"/>
          </a:xfrm>
          <a:prstGeom prst="ellipse">
            <a:avLst/>
          </a:prstGeom>
          <a:solidFill>
            <a:srgbClr val="2BD6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52360" y="3611880"/>
            <a:ext cx="1920240" cy="11887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50" b="1" i="0">
                <a:solidFill>
                  <a:srgbClr val="141826"/>
                </a:solidFill>
                <a:latin typeface="Segoe UI"/>
              </a:rPr>
              <a:t>Полезнее ли текущего способа</a:t>
            </a:r>
          </a:p>
        </p:txBody>
      </p:sp>
      <p:sp>
        <p:nvSpPr>
          <p:cNvPr id="12" name="Oval 11"/>
          <p:cNvSpPr/>
          <p:nvPr/>
        </p:nvSpPr>
        <p:spPr>
          <a:xfrm>
            <a:off x="9994392" y="2724912"/>
            <a:ext cx="585216" cy="585216"/>
          </a:xfrm>
          <a:prstGeom prst="ellipse">
            <a:avLst/>
          </a:prstGeom>
          <a:solidFill>
            <a:srgbClr val="2BD6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9760" y="3611880"/>
            <a:ext cx="1920240" cy="11887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50" b="1" i="0">
                <a:solidFill>
                  <a:srgbClr val="141826"/>
                </a:solidFill>
                <a:latin typeface="Segoe UI"/>
              </a:rPr>
              <a:t>Будет ли пользоваться снова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75720" y="6473952"/>
            <a:ext cx="54864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/>
            <a:r>
              <a:rPr sz="1000" b="0" i="0">
                <a:solidFill>
                  <a:srgbClr val="5B647A"/>
                </a:solidFill>
                <a:latin typeface="Segoe UI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965960"/>
            <a:ext cx="10149840" cy="27432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3000" b="1" i="0">
                <a:solidFill>
                  <a:srgbClr val="FFFFFF"/>
                </a:solidFill>
                <a:latin typeface="Segoe UI Light"/>
              </a:rPr>
              <a:t>Создаёт ли PIOS для водителя дополнительную ценность
по сравнению с его текущим способом получения заказов?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75720" y="6473952"/>
            <a:ext cx="54864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/>
            <a:r>
              <a:rPr sz="1000" b="0" i="0">
                <a:solidFill>
                  <a:srgbClr val="8A93A8"/>
                </a:solidFill>
                <a:latin typeface="Segoe UI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731520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300" b="1" i="0">
                <a:solidFill>
                  <a:srgbClr val="1E9E86"/>
                </a:solidFill>
                <a:latin typeface="Segoe UI Semibold"/>
              </a:rPr>
              <a:t>ЧТО ДАЛЬШЕ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05840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2700" b="1" i="0">
                <a:solidFill>
                  <a:srgbClr val="141826"/>
                </a:solidFill>
                <a:latin typeface="Segoe UI Semibold"/>
              </a:rPr>
              <a:t>Что дальше — если пилот подтвердится</a:t>
            </a:r>
          </a:p>
        </p:txBody>
      </p:sp>
      <p:sp>
        <p:nvSpPr>
          <p:cNvPr id="4" name="Rectangle 3"/>
          <p:cNvSpPr/>
          <p:nvPr/>
        </p:nvSpPr>
        <p:spPr>
          <a:xfrm>
            <a:off x="1188720" y="2423160"/>
            <a:ext cx="1828800" cy="502920"/>
          </a:xfrm>
          <a:prstGeom prst="rect">
            <a:avLst/>
          </a:prstGeom>
          <a:solidFill>
            <a:srgbClr val="2BD6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423160"/>
            <a:ext cx="1554480" cy="5029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300" b="1" i="0">
                <a:solidFill>
                  <a:srgbClr val="141826"/>
                </a:solidFill>
                <a:latin typeface="Segoe UI"/>
              </a:rPr>
              <a:t>3 водителя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3044952"/>
            <a:ext cx="3383280" cy="502920"/>
          </a:xfrm>
          <a:prstGeom prst="rect">
            <a:avLst/>
          </a:prstGeom>
          <a:solidFill>
            <a:srgbClr val="D0E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3044952"/>
            <a:ext cx="3108960" cy="5029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300" b="1" i="0">
                <a:solidFill>
                  <a:srgbClr val="141826"/>
                </a:solidFill>
                <a:latin typeface="Segoe UI"/>
              </a:rPr>
              <a:t>5–10 водителей</a:t>
            </a:r>
          </a:p>
        </p:txBody>
      </p:sp>
      <p:sp>
        <p:nvSpPr>
          <p:cNvPr id="8" name="Rectangle 7"/>
          <p:cNvSpPr/>
          <p:nvPr/>
        </p:nvSpPr>
        <p:spPr>
          <a:xfrm>
            <a:off x="1188720" y="3666744"/>
            <a:ext cx="4937760" cy="502920"/>
          </a:xfrm>
          <a:prstGeom prst="rect">
            <a:avLst/>
          </a:prstGeom>
          <a:solidFill>
            <a:srgbClr val="C8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666744"/>
            <a:ext cx="4663440" cy="5029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300" b="1" i="0">
                <a:solidFill>
                  <a:srgbClr val="141826"/>
                </a:solidFill>
                <a:latin typeface="Segoe UI"/>
              </a:rPr>
              <a:t>Устойчивый локальный контур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88720" y="4288536"/>
            <a:ext cx="6492240" cy="502920"/>
          </a:xfrm>
          <a:prstGeom prst="rect">
            <a:avLst/>
          </a:prstGeom>
          <a:solidFill>
            <a:srgbClr val="C0E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4288536"/>
            <a:ext cx="6217920" cy="5029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300" b="1" i="0">
                <a:solidFill>
                  <a:srgbClr val="141826"/>
                </a:solidFill>
                <a:latin typeface="Segoe UI"/>
              </a:rPr>
              <a:t>Следующий город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5623560"/>
            <a:ext cx="978408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300" b="0" i="1">
                <a:solidFill>
                  <a:srgbClr val="5B647A"/>
                </a:solidFill>
                <a:latin typeface="Segoe UI"/>
              </a:rPr>
              <a:t>Каждый шаг зависит от доказательства предыдущего.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88720" y="6126480"/>
            <a:ext cx="9784080" cy="502920"/>
          </a:xfrm>
          <a:prstGeom prst="roundRect">
            <a:avLst>
              <a:gd name="adj" fmla="val 12000"/>
            </a:avLst>
          </a:prstGeom>
          <a:solidFill>
            <a:srgbClr val="E9F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>
            <a:noAutofit/>
          </a:bodyPr>
          <a:lstStyle/>
          <a:p>
            <a:pPr algn="ctr"/>
            <a:r>
              <a:rPr sz="1300" b="1" i="0">
                <a:solidFill>
                  <a:srgbClr val="141826"/>
                </a:solidFill>
                <a:latin typeface="Segoe UI"/>
              </a:rPr>
              <a:t>Успех: хотя бы один водитель говорит — «Да, этим я могу пользоваться»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75720" y="6473952"/>
            <a:ext cx="54864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/>
            <a:r>
              <a:rPr sz="1000" b="0" i="0">
                <a:solidFill>
                  <a:srgbClr val="5B647A"/>
                </a:solidFill>
                <a:latin typeface="Segoe UI"/>
              </a:rP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